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C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s-CL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CL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s-C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s-C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s-C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s-C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167BB7D-80E2-4FB2-8F8B-9662B3DB6DEE}" type="slidenum">
              <a:rPr b="0" lang="es-C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s-C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A9DAB7-02D9-4DE7-8096-9B162DB3F52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5A5552-AA2D-4378-89CB-8B1B71768C7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0E7F29-FBC9-4C25-9F4E-CDA9933DAB1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AF1A85-552F-4037-9A1E-17191D40EA1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87AD59-BC41-4EC0-BBC4-E5E7EA2F745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8BEF82-EB90-4673-9B4D-5BB60AA95A6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6923A8-9E5B-47FF-A4C5-2215E7060C3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2F877A-532A-4A78-B10A-8A77E864D43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8A19AE-31FC-4A7B-9DBF-9C704CE0D1A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467AE6-E880-41DC-9742-7231EE34EB3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D1263A-A0AF-49E4-9ED1-223AE90CFA4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5E97A0-B319-4E87-A76D-B655A7C766E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D885A9-EB83-4BD6-8209-CBEB8E1453A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6B6F0E-21EA-4FA2-9A67-FEEF84DA070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921F85-A9BE-4E8D-A2D9-0B87474C5BB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20F166-C9A3-4416-8E23-2B10620E5E2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85A848-DA72-44B6-8790-485BDD0A6BF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08C8BA-63F3-4AF8-A26A-87563D31C3A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386D8E-1A17-49CA-B2A3-6ACDF5DD96C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D85112-A87F-4F86-9ECF-DA56F21A6E9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s-C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L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s-CL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s-CL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s-CL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s-CL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s-CL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s-CL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s-CL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s-CL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052560" y="3291840"/>
            <a:ext cx="4754520" cy="4754520"/>
          </a:xfrm>
          <a:prstGeom prst="ellipse">
            <a:avLst/>
          </a:prstGeom>
          <a:noFill/>
          <a:ln w="15875">
            <a:solidFill>
              <a:srgbClr val="3e5c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966960" y="4206240"/>
            <a:ext cx="2925720" cy="2925720"/>
          </a:xfrm>
          <a:prstGeom prst="ellipse">
            <a:avLst/>
          </a:prstGeom>
          <a:noFill/>
          <a:ln w="12700">
            <a:solidFill>
              <a:srgbClr val="3e5c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0881360" y="5120640"/>
            <a:ext cx="1096920" cy="109692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85800" y="1554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GESTIÓN LOGÍSTICA</a:t>
            </a:r>
            <a:endParaRPr b="0" lang="es-CL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58440" y="1965960"/>
            <a:ext cx="8686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Clase 4: Tecnologías de la</a:t>
            </a:r>
            <a:endParaRPr b="0" lang="es-CL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Información en la Logística</a:t>
            </a:r>
            <a:endParaRPr b="0" lang="es-CL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85800" y="379476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El ecosistema digital que conecta clientes, empresa y proveedores</a:t>
            </a:r>
            <a:endParaRPr b="0" lang="es-CL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13160" y="4434840"/>
            <a:ext cx="2194560" cy="360"/>
          </a:xfrm>
          <a:prstGeom prst="line">
            <a:avLst/>
          </a:prstGeom>
          <a:ln w="25400">
            <a:solidFill>
              <a:srgbClr val="c9a2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685800" y="60807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eb9e4"/>
                </a:solidFill>
                <a:effectLst/>
                <a:uFillTx/>
                <a:latin typeface="Calibri"/>
                <a:ea typeface="Calibri"/>
              </a:rPr>
              <a:t>Programa Ingeniería Industrial Advance</a:t>
            </a:r>
            <a:endParaRPr b="0" lang="es-CL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85800" y="63550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aeb9e4"/>
                </a:solidFill>
                <a:effectLst/>
                <a:uFillTx/>
                <a:latin typeface="Calibri"/>
                <a:ea typeface="Calibri"/>
              </a:rPr>
              <a:t>Universidad San Sebastián  ·  USS Online Learning</a:t>
            </a:r>
            <a:endParaRPr b="0" lang="es-CL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CONTENIDO DE LA CLASE</a:t>
            </a:r>
            <a:endParaRPr b="0" lang="es-CL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77724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Cinco bloques para entender el ecosistema IT logístico</a:t>
            </a:r>
            <a:endParaRPr b="0" lang="es-CL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48640" y="1783080"/>
            <a:ext cx="11063880" cy="749520"/>
          </a:xfrm>
          <a:prstGeom prst="roundRect">
            <a:avLst>
              <a:gd name="adj" fmla="val 7317"/>
            </a:avLst>
          </a:prstGeom>
          <a:solidFill>
            <a:srgbClr val="e8e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777240" y="1865520"/>
            <a:ext cx="585000" cy="585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1028880" y="1964880"/>
            <a:ext cx="81720" cy="81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960" bIns="129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876600" y="2222280"/>
            <a:ext cx="81720" cy="81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960" bIns="129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1181160" y="2222280"/>
            <a:ext cx="81720" cy="817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960" bIns="129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 flipH="1">
            <a:off x="917640" y="2005560"/>
            <a:ext cx="151920" cy="257760"/>
          </a:xfrm>
          <a:prstGeom prst="line">
            <a:avLst/>
          </a:prstGeom>
          <a:ln w="158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1069560" y="2005560"/>
            <a:ext cx="152280" cy="257760"/>
          </a:xfrm>
          <a:prstGeom prst="line">
            <a:avLst/>
          </a:prstGeom>
          <a:ln w="158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917640" y="2263320"/>
            <a:ext cx="304200" cy="360"/>
          </a:xfrm>
          <a:prstGeom prst="line">
            <a:avLst/>
          </a:prstGeom>
          <a:ln w="158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1600200" y="182880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3e5c9a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b="0" lang="es-C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2423160" y="1783080"/>
            <a:ext cx="8869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El Sistema de Información Logístico (LIS) y sus macroprocesos</a:t>
            </a:r>
            <a:endParaRPr b="0" lang="es-CL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548640" y="2679120"/>
            <a:ext cx="11063880" cy="749520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777240" y="2761560"/>
            <a:ext cx="585000" cy="585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946800" y="2931120"/>
            <a:ext cx="102960" cy="102960"/>
          </a:xfrm>
          <a:prstGeom prst="roundRect">
            <a:avLst>
              <a:gd name="adj" fmla="val 177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1089360" y="2931120"/>
            <a:ext cx="102960" cy="102960"/>
          </a:xfrm>
          <a:prstGeom prst="roundRect">
            <a:avLst>
              <a:gd name="adj" fmla="val 177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6"/>
          <p:cNvSpPr/>
          <p:nvPr/>
        </p:nvSpPr>
        <p:spPr>
          <a:xfrm>
            <a:off x="946800" y="3073680"/>
            <a:ext cx="102960" cy="102960"/>
          </a:xfrm>
          <a:prstGeom prst="roundRect">
            <a:avLst>
              <a:gd name="adj" fmla="val 177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7"/>
          <p:cNvSpPr/>
          <p:nvPr/>
        </p:nvSpPr>
        <p:spPr>
          <a:xfrm>
            <a:off x="1089360" y="3073680"/>
            <a:ext cx="102960" cy="102960"/>
          </a:xfrm>
          <a:prstGeom prst="roundRect">
            <a:avLst>
              <a:gd name="adj" fmla="val 177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1600200" y="272484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3e5c9a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b="0" lang="es-C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2423160" y="2679120"/>
            <a:ext cx="8869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ERP — el núcleo transaccional de la empresa</a:t>
            </a:r>
            <a:endParaRPr b="0" lang="es-CL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0"/>
          <p:cNvSpPr/>
          <p:nvPr/>
        </p:nvSpPr>
        <p:spPr>
          <a:xfrm>
            <a:off x="548640" y="3575160"/>
            <a:ext cx="11063880" cy="749520"/>
          </a:xfrm>
          <a:prstGeom prst="roundRect">
            <a:avLst>
              <a:gd name="adj" fmla="val 7317"/>
            </a:avLst>
          </a:prstGeom>
          <a:solidFill>
            <a:srgbClr val="e8e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1"/>
          <p:cNvSpPr/>
          <p:nvPr/>
        </p:nvSpPr>
        <p:spPr>
          <a:xfrm>
            <a:off x="777240" y="3657600"/>
            <a:ext cx="585000" cy="585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2"/>
          <p:cNvSpPr/>
          <p:nvPr/>
        </p:nvSpPr>
        <p:spPr>
          <a:xfrm>
            <a:off x="946800" y="3856680"/>
            <a:ext cx="151920" cy="151920"/>
          </a:xfrm>
          <a:prstGeom prst="ellipse">
            <a:avLst/>
          </a:pr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3"/>
          <p:cNvSpPr/>
          <p:nvPr/>
        </p:nvSpPr>
        <p:spPr>
          <a:xfrm>
            <a:off x="1040400" y="3822480"/>
            <a:ext cx="122400" cy="122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2120" bIns="4212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1600200" y="362088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3e5c9a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b="0" lang="es-C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2423160" y="3575160"/>
            <a:ext cx="8869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CRM — la gestión de la demanda y el cliente</a:t>
            </a:r>
            <a:endParaRPr b="0" lang="es-CL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6"/>
          <p:cNvSpPr/>
          <p:nvPr/>
        </p:nvSpPr>
        <p:spPr>
          <a:xfrm>
            <a:off x="548640" y="4471560"/>
            <a:ext cx="11063880" cy="749520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7"/>
          <p:cNvSpPr/>
          <p:nvPr/>
        </p:nvSpPr>
        <p:spPr>
          <a:xfrm>
            <a:off x="777240" y="4553640"/>
            <a:ext cx="585000" cy="585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8"/>
          <p:cNvSpPr/>
          <p:nvPr/>
        </p:nvSpPr>
        <p:spPr>
          <a:xfrm>
            <a:off x="946800" y="4760280"/>
            <a:ext cx="135000" cy="97920"/>
          </a:xfrm>
          <a:prstGeom prst="roundRect">
            <a:avLst>
              <a:gd name="adj" fmla="val 1860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2840" bIns="4284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9"/>
          <p:cNvSpPr/>
          <p:nvPr/>
        </p:nvSpPr>
        <p:spPr>
          <a:xfrm rot="5400000">
            <a:off x="1070280" y="4772520"/>
            <a:ext cx="78120" cy="7812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5760" bIns="-57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0"/>
          <p:cNvSpPr/>
          <p:nvPr/>
        </p:nvSpPr>
        <p:spPr>
          <a:xfrm>
            <a:off x="1600200" y="451728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3e5c9a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b="0" lang="es-C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1"/>
          <p:cNvSpPr/>
          <p:nvPr/>
        </p:nvSpPr>
        <p:spPr>
          <a:xfrm>
            <a:off x="2423160" y="4471560"/>
            <a:ext cx="8869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WMS y TMS/RS — los sistemas de ejecución operativa</a:t>
            </a:r>
            <a:endParaRPr b="0" lang="es-CL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2"/>
          <p:cNvSpPr/>
          <p:nvPr/>
        </p:nvSpPr>
        <p:spPr>
          <a:xfrm>
            <a:off x="548640" y="5367600"/>
            <a:ext cx="11063880" cy="749520"/>
          </a:xfrm>
          <a:prstGeom prst="roundRect">
            <a:avLst>
              <a:gd name="adj" fmla="val 7317"/>
            </a:avLst>
          </a:prstGeom>
          <a:solidFill>
            <a:srgbClr val="e8e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3"/>
          <p:cNvSpPr/>
          <p:nvPr/>
        </p:nvSpPr>
        <p:spPr>
          <a:xfrm>
            <a:off x="777240" y="5449680"/>
            <a:ext cx="585000" cy="585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4"/>
          <p:cNvSpPr/>
          <p:nvPr/>
        </p:nvSpPr>
        <p:spPr>
          <a:xfrm>
            <a:off x="946800" y="5619600"/>
            <a:ext cx="245520" cy="245520"/>
          </a:xfrm>
          <a:prstGeom prst="ellipse">
            <a:avLst/>
          </a:prstGeom>
          <a:noFill/>
          <a:ln w="222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5"/>
          <p:cNvSpPr/>
          <p:nvPr/>
        </p:nvSpPr>
        <p:spPr>
          <a:xfrm>
            <a:off x="1600200" y="5413320"/>
            <a:ext cx="82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3e5c9a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b="0" lang="es-C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6"/>
          <p:cNvSpPr/>
          <p:nvPr/>
        </p:nvSpPr>
        <p:spPr>
          <a:xfrm>
            <a:off x="2423160" y="5367600"/>
            <a:ext cx="8869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Cierre: la interrelación completa del ecosistema</a:t>
            </a:r>
            <a:endParaRPr b="0" lang="es-CL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7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8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685800" y="685800"/>
            <a:ext cx="822600" cy="82260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924480" y="924480"/>
            <a:ext cx="345240" cy="345240"/>
          </a:xfrm>
          <a:prstGeom prst="ellipse">
            <a:avLst/>
          </a:prstGeom>
          <a:noFill/>
          <a:ln w="222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1691640" y="7315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RESULTADO DE APRENDIZAJE</a:t>
            </a:r>
            <a:endParaRPr b="0" lang="es-CL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731520" y="1920240"/>
            <a:ext cx="98751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Comprender los sistemas informáticos (IT) que componen y se interrelacionan en la cadena de suministro.</a:t>
            </a:r>
            <a:endParaRPr b="0" lang="es-CL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749520" y="3977640"/>
            <a:ext cx="2011680" cy="360"/>
          </a:xfrm>
          <a:prstGeom prst="line">
            <a:avLst/>
          </a:prstGeom>
          <a:ln w="25400">
            <a:solidFill>
              <a:srgbClr val="c9a2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749880" y="4251960"/>
            <a:ext cx="89607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c7d1f0"/>
                </a:solidFill>
                <a:effectLst/>
                <a:uFillTx/>
                <a:latin typeface="Calibri"/>
                <a:ea typeface="Calibri"/>
              </a:rPr>
              <a:t>Al finalizar esta clase, cada estudiante será capaz de identificar qué sistema resuelve cada necesidad de la cadena y cómo estos se comunican entre sí para dar cumplimiento a un pedido, de principio a fin.</a:t>
            </a:r>
            <a:endParaRPr b="0" lang="es-CL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8b96c4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b96c4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s-CL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ENCUADRE DIDÁCTICO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El puente con las clases anteriores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548640" y="1691640"/>
            <a:ext cx="3501720" cy="3931560"/>
          </a:xfrm>
          <a:prstGeom prst="roundRect">
            <a:avLst>
              <a:gd name="adj" fmla="val 208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"/>
          <p:cNvSpPr/>
          <p:nvPr/>
        </p:nvSpPr>
        <p:spPr>
          <a:xfrm>
            <a:off x="868680" y="2011680"/>
            <a:ext cx="639720" cy="6397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1144080" y="2120400"/>
            <a:ext cx="89280" cy="89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"/>
          <p:cNvSpPr/>
          <p:nvPr/>
        </p:nvSpPr>
        <p:spPr>
          <a:xfrm>
            <a:off x="977400" y="2402280"/>
            <a:ext cx="89280" cy="89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6"/>
          <p:cNvSpPr/>
          <p:nvPr/>
        </p:nvSpPr>
        <p:spPr>
          <a:xfrm>
            <a:off x="1310400" y="2402280"/>
            <a:ext cx="89280" cy="89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 flipH="1">
            <a:off x="1022040" y="2165040"/>
            <a:ext cx="166680" cy="281880"/>
          </a:xfrm>
          <a:prstGeom prst="line">
            <a:avLst/>
          </a:prstGeom>
          <a:ln w="158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1188720" y="2165040"/>
            <a:ext cx="166320" cy="281880"/>
          </a:xfrm>
          <a:prstGeom prst="line">
            <a:avLst/>
          </a:prstGeom>
          <a:ln w="158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9"/>
          <p:cNvSpPr/>
          <p:nvPr/>
        </p:nvSpPr>
        <p:spPr>
          <a:xfrm>
            <a:off x="1022040" y="2446920"/>
            <a:ext cx="333000" cy="360"/>
          </a:xfrm>
          <a:prstGeom prst="line">
            <a:avLst/>
          </a:prstGeom>
          <a:ln w="158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868680" y="283464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50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CLASE 1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868680" y="3108960"/>
            <a:ext cx="286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Flujo de materiales e información</a:t>
            </a:r>
            <a:endParaRPr b="0" lang="es-CL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868680" y="3840480"/>
            <a:ext cx="28616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Si la logística mueve materiales e información en paralelo, hoy abrimos la “caja negra” de ese flujo de información.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3"/>
          <p:cNvSpPr/>
          <p:nvPr/>
        </p:nvSpPr>
        <p:spPr>
          <a:xfrm>
            <a:off x="4325040" y="1691640"/>
            <a:ext cx="3501720" cy="3931560"/>
          </a:xfrm>
          <a:prstGeom prst="roundRect">
            <a:avLst>
              <a:gd name="adj" fmla="val 208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4"/>
          <p:cNvSpPr/>
          <p:nvPr/>
        </p:nvSpPr>
        <p:spPr>
          <a:xfrm>
            <a:off x="4645080" y="2011680"/>
            <a:ext cx="639720" cy="6397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5"/>
          <p:cNvSpPr/>
          <p:nvPr/>
        </p:nvSpPr>
        <p:spPr>
          <a:xfrm>
            <a:off x="4803840" y="2237760"/>
            <a:ext cx="147600" cy="9360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6"/>
          <p:cNvSpPr/>
          <p:nvPr/>
        </p:nvSpPr>
        <p:spPr>
          <a:xfrm>
            <a:off x="4951800" y="2245680"/>
            <a:ext cx="80280" cy="80280"/>
          </a:xfrm>
          <a:prstGeom prst="ellipse">
            <a:avLst/>
          </a:prstGeom>
          <a:noFill/>
          <a:ln w="222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7"/>
          <p:cNvSpPr/>
          <p:nvPr/>
        </p:nvSpPr>
        <p:spPr>
          <a:xfrm>
            <a:off x="4645080" y="283464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50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CLASE 2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8"/>
          <p:cNvSpPr/>
          <p:nvPr/>
        </p:nvSpPr>
        <p:spPr>
          <a:xfrm>
            <a:off x="4645080" y="3108960"/>
            <a:ext cx="286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Estrategias Push y Pull</a:t>
            </a:r>
            <a:endParaRPr b="0" lang="es-CL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9"/>
          <p:cNvSpPr/>
          <p:nvPr/>
        </p:nvSpPr>
        <p:spPr>
          <a:xfrm>
            <a:off x="4645080" y="3840480"/>
            <a:ext cx="28616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Conoceremos los softwares que automatizan y ejecutan estas estrategias dentro de la cadena de suministro.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0"/>
          <p:cNvSpPr/>
          <p:nvPr/>
        </p:nvSpPr>
        <p:spPr>
          <a:xfrm>
            <a:off x="8101440" y="1691640"/>
            <a:ext cx="3501720" cy="3931560"/>
          </a:xfrm>
          <a:prstGeom prst="roundRect">
            <a:avLst>
              <a:gd name="adj" fmla="val 208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1"/>
          <p:cNvSpPr/>
          <p:nvPr/>
        </p:nvSpPr>
        <p:spPr>
          <a:xfrm>
            <a:off x="8421480" y="2011680"/>
            <a:ext cx="639720" cy="6397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2"/>
          <p:cNvSpPr/>
          <p:nvPr/>
        </p:nvSpPr>
        <p:spPr>
          <a:xfrm>
            <a:off x="8607240" y="2197440"/>
            <a:ext cx="268560" cy="268560"/>
          </a:xfrm>
          <a:prstGeom prst="ellipse">
            <a:avLst/>
          </a:prstGeom>
          <a:noFill/>
          <a:ln w="222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3"/>
          <p:cNvSpPr/>
          <p:nvPr/>
        </p:nvSpPr>
        <p:spPr>
          <a:xfrm>
            <a:off x="8421480" y="283464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50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CLASE 3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4"/>
          <p:cNvSpPr/>
          <p:nvPr/>
        </p:nvSpPr>
        <p:spPr>
          <a:xfrm>
            <a:off x="8421480" y="3108960"/>
            <a:ext cx="286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Estándar SCOR</a:t>
            </a:r>
            <a:endParaRPr b="0" lang="es-CL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5"/>
          <p:cNvSpPr/>
          <p:nvPr/>
        </p:nvSpPr>
        <p:spPr>
          <a:xfrm>
            <a:off x="8421480" y="3840480"/>
            <a:ext cx="28616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Los sistemas IT son los sensores que capturan en tiempo real los datos para calcular utilización, productividad y eficiencia.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6"/>
          <p:cNvSpPr/>
          <p:nvPr/>
        </p:nvSpPr>
        <p:spPr>
          <a:xfrm>
            <a:off x="548640" y="589788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Pregunta de activación: ¿cuántos de ustedes trabajan hoy con un software como SAP, Oracle o un sistema de ruteo?</a:t>
            </a:r>
            <a:endParaRPr b="0" lang="es-CL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7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8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1 · EL SISTEMA NERVIOSO DE LA CADENA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¿Qué es un LIS?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7955280" y="1691640"/>
            <a:ext cx="2925720" cy="2925720"/>
          </a:xfrm>
          <a:prstGeom prst="ellipse">
            <a:avLst/>
          </a:prstGeom>
          <a:solidFill>
            <a:srgbClr val="e8e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9213480" y="2189160"/>
            <a:ext cx="409320" cy="4093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8452800" y="3476520"/>
            <a:ext cx="409320" cy="4093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9974160" y="3476520"/>
            <a:ext cx="409320" cy="4093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 flipH="1">
            <a:off x="8657280" y="2393640"/>
            <a:ext cx="761040" cy="1287720"/>
          </a:xfrm>
          <a:prstGeom prst="line">
            <a:avLst/>
          </a:prstGeom>
          <a:ln w="15875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9418320" y="2393640"/>
            <a:ext cx="760680" cy="1287720"/>
          </a:xfrm>
          <a:prstGeom prst="line">
            <a:avLst/>
          </a:prstGeom>
          <a:ln w="15875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8657280" y="3681360"/>
            <a:ext cx="1521720" cy="360"/>
          </a:xfrm>
          <a:prstGeom prst="line">
            <a:avLst/>
          </a:prstGeom>
          <a:ln w="15875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9"/>
          <p:cNvSpPr/>
          <p:nvPr/>
        </p:nvSpPr>
        <p:spPr>
          <a:xfrm>
            <a:off x="7955280" y="1691640"/>
            <a:ext cx="2925720" cy="2925720"/>
          </a:xfrm>
          <a:prstGeom prst="ellipse">
            <a:avLst/>
          </a:prstGeom>
          <a:noFill/>
          <a:ln w="190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548640" y="1691640"/>
            <a:ext cx="694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Sistema de Información Logístico (LIS)</a:t>
            </a:r>
            <a:endParaRPr b="0" lang="es-CL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548640" y="2194560"/>
            <a:ext cx="70405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Estructura interactiva de personas, equipos y procedimientos diseñada para transformar datos brutos en información relevante, disponible para la gerencia de logística.</a:t>
            </a:r>
            <a:endParaRPr b="0" lang="es-CL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567000" y="3474720"/>
            <a:ext cx="145800" cy="14580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868680" y="3355920"/>
            <a:ext cx="6766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Automatizar procesos operativos  </a:t>
            </a: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Reduce la intervención manual y agiliza tareas repetitivas de recepción, almacenamiento y despacho.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567000" y="4133160"/>
            <a:ext cx="145800" cy="14580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868680" y="4014360"/>
            <a:ext cx="6766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Apoyar la toma de decisiones  </a:t>
            </a: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Entrega datos y análisis a los niveles estratégico, táctico y operativo.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567000" y="4791600"/>
            <a:ext cx="145800" cy="14580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868680" y="4672440"/>
            <a:ext cx="6766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Lograr ventajas competitivas  </a:t>
            </a: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Mejora el servicio al cliente, reduce costos y aumenta la agilidad del negocio.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1 · ARQUITECTURA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La jerarquía del LIS en tres niveles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548640" y="1691640"/>
            <a:ext cx="11063880" cy="77688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868680" y="1691640"/>
            <a:ext cx="104238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NIVEL 1   </a:t>
            </a:r>
            <a:r>
              <a:rPr b="0" lang="en-US" sz="14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LIS — El marco general que engloba a todos los sistemas logísticos</a:t>
            </a:r>
            <a:endParaRPr b="0" lang="es-CL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548640" y="2697480"/>
            <a:ext cx="3501720" cy="959760"/>
          </a:xfrm>
          <a:prstGeom prst="roundRect">
            <a:avLst>
              <a:gd name="adj" fmla="val 7619"/>
            </a:avLst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777240" y="2788920"/>
            <a:ext cx="304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CRM</a:t>
            </a:r>
            <a:endParaRPr b="0" lang="es-CL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3154680"/>
            <a:ext cx="304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e8effc"/>
                </a:solidFill>
                <a:effectLst/>
                <a:uFillTx/>
                <a:latin typeface="Calibri"/>
                <a:ea typeface="Calibri"/>
              </a:rPr>
              <a:t>Front Office — interacción con clientes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4325040" y="2697480"/>
            <a:ext cx="3501720" cy="959760"/>
          </a:xfrm>
          <a:prstGeom prst="roundRect">
            <a:avLst>
              <a:gd name="adj" fmla="val 7619"/>
            </a:avLst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4553640" y="2788920"/>
            <a:ext cx="304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ISCM</a:t>
            </a:r>
            <a:endParaRPr b="0" lang="es-CL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4553640" y="3154680"/>
            <a:ext cx="304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e8effc"/>
                </a:solidFill>
                <a:effectLst/>
                <a:uFillTx/>
                <a:latin typeface="Calibri"/>
                <a:ea typeface="Calibri"/>
              </a:rPr>
              <a:t>Cadena interna — planificación y operaciones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8101440" y="2697480"/>
            <a:ext cx="3501720" cy="959760"/>
          </a:xfrm>
          <a:prstGeom prst="roundRect">
            <a:avLst>
              <a:gd name="adj" fmla="val 7619"/>
            </a:avLst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8330040" y="2788920"/>
            <a:ext cx="304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SRM</a:t>
            </a:r>
            <a:endParaRPr b="0" lang="es-CL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8330040" y="3154680"/>
            <a:ext cx="304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e8effc"/>
                </a:solidFill>
                <a:effectLst/>
                <a:uFillTx/>
                <a:latin typeface="Calibri"/>
                <a:ea typeface="Calibri"/>
              </a:rPr>
              <a:t>Interacción con proveedores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548640" y="239580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NIVEL 2 · Macroprocesos de la cadena de suministro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548640" y="397764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9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NIVEL 3 · Fundamento transaccional y herramientas de ejecución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5"/>
          <p:cNvSpPr/>
          <p:nvPr/>
        </p:nvSpPr>
        <p:spPr>
          <a:xfrm>
            <a:off x="548640" y="4279320"/>
            <a:ext cx="5394600" cy="1005480"/>
          </a:xfrm>
          <a:prstGeom prst="roundRect">
            <a:avLst>
              <a:gd name="adj" fmla="val 7273"/>
            </a:avLst>
          </a:prstGeom>
          <a:solidFill>
            <a:srgbClr val="e8ef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822960" y="437076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ERP (TMF)</a:t>
            </a:r>
            <a:endParaRPr b="0" lang="es-CL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822960" y="47181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Back Office — la fuente única de datos transaccionales de la empresa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8"/>
          <p:cNvSpPr/>
          <p:nvPr/>
        </p:nvSpPr>
        <p:spPr>
          <a:xfrm>
            <a:off x="6217920" y="4279320"/>
            <a:ext cx="5394600" cy="1005480"/>
          </a:xfrm>
          <a:prstGeom prst="roundRect">
            <a:avLst>
              <a:gd name="adj" fmla="val 7273"/>
            </a:avLst>
          </a:prstGeom>
          <a:solidFill>
            <a:srgbClr val="e8ef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6492240" y="437076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WMS · TMS · RS</a:t>
            </a:r>
            <a:endParaRPr b="0" lang="es-CL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6492240" y="47181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Ejecutan la acción logística: dónde, cómo y cuándo mover el producto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1"/>
          <p:cNvSpPr/>
          <p:nvPr/>
        </p:nvSpPr>
        <p:spPr>
          <a:xfrm>
            <a:off x="548640" y="553212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Lógica de datos y acción: el ERP registra el qué pasó; CRM y SRM gestionan demanda y suministro; ISCM (WMS/TMS) ejecuta el movimiento físico del producto.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3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1 · NIVEL 2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Los tres macroprocesos de la cadena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548640" y="1737360"/>
            <a:ext cx="3501720" cy="3977280"/>
          </a:xfrm>
          <a:prstGeom prst="roundRect">
            <a:avLst>
              <a:gd name="adj" fmla="val 208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868680" y="2057400"/>
            <a:ext cx="685440" cy="68544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1067400" y="2290680"/>
            <a:ext cx="178200" cy="178200"/>
          </a:xfrm>
          <a:prstGeom prst="ellipse">
            <a:avLst/>
          </a:prstGeom>
          <a:noFill/>
          <a:ln w="190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"/>
          <p:cNvSpPr/>
          <p:nvPr/>
        </p:nvSpPr>
        <p:spPr>
          <a:xfrm>
            <a:off x="1176840" y="2250360"/>
            <a:ext cx="143640" cy="143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868680" y="2926080"/>
            <a:ext cx="286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CRM</a:t>
            </a:r>
            <a:endParaRPr b="0" lang="es-C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868680" y="3429000"/>
            <a:ext cx="286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Customer Relationship Management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868680" y="4023360"/>
            <a:ext cx="28616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4e9f7"/>
                </a:solidFill>
                <a:effectLst/>
                <a:uFillTx/>
                <a:latin typeface="Calibri"/>
                <a:ea typeface="Calibri"/>
              </a:rPr>
              <a:t>Interacciones corriente abajo con los clientes: demanda, venta, administración de pedidos y servicio posventa.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4325040" y="1737360"/>
            <a:ext cx="3501720" cy="3977280"/>
          </a:xfrm>
          <a:prstGeom prst="roundRect">
            <a:avLst>
              <a:gd name="adj" fmla="val 208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0"/>
          <p:cNvSpPr/>
          <p:nvPr/>
        </p:nvSpPr>
        <p:spPr>
          <a:xfrm>
            <a:off x="4645080" y="2057400"/>
            <a:ext cx="685440" cy="6854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4844160" y="2313720"/>
            <a:ext cx="230040" cy="172440"/>
          </a:xfrm>
          <a:prstGeom prst="roundRect">
            <a:avLst>
              <a:gd name="adj" fmla="val 15873"/>
            </a:avLst>
          </a:pr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2"/>
          <p:cNvSpPr/>
          <p:nvPr/>
        </p:nvSpPr>
        <p:spPr>
          <a:xfrm>
            <a:off x="4843800" y="2313720"/>
            <a:ext cx="230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3"/>
          <p:cNvSpPr/>
          <p:nvPr/>
        </p:nvSpPr>
        <p:spPr>
          <a:xfrm>
            <a:off x="4959000" y="2256120"/>
            <a:ext cx="360" cy="5760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2600" bIns="1260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4645080" y="2926080"/>
            <a:ext cx="286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ISCM</a:t>
            </a:r>
            <a:endParaRPr b="0" lang="es-C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4645080" y="3429000"/>
            <a:ext cx="286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Internal Supply Chain Management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4645080" y="4023360"/>
            <a:ext cx="28616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Operaciones internas de la empresa: planeación de demanda y oferta, surtido de pedidos, almacenamiento y fabricación.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7"/>
          <p:cNvSpPr/>
          <p:nvPr/>
        </p:nvSpPr>
        <p:spPr>
          <a:xfrm>
            <a:off x="8101440" y="1737360"/>
            <a:ext cx="3501720" cy="3977280"/>
          </a:xfrm>
          <a:prstGeom prst="roundRect">
            <a:avLst>
              <a:gd name="adj" fmla="val 208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8"/>
          <p:cNvSpPr/>
          <p:nvPr/>
        </p:nvSpPr>
        <p:spPr>
          <a:xfrm>
            <a:off x="8421480" y="2057400"/>
            <a:ext cx="685440" cy="6854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9"/>
          <p:cNvSpPr/>
          <p:nvPr/>
        </p:nvSpPr>
        <p:spPr>
          <a:xfrm>
            <a:off x="8620560" y="2256120"/>
            <a:ext cx="287640" cy="287640"/>
          </a:xfrm>
          <a:prstGeom prst="donut">
            <a:avLst>
              <a:gd name="adj" fmla="val 2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0"/>
          <p:cNvSpPr/>
          <p:nvPr/>
        </p:nvSpPr>
        <p:spPr>
          <a:xfrm>
            <a:off x="8421480" y="2926080"/>
            <a:ext cx="286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SRM</a:t>
            </a:r>
            <a:endParaRPr b="0" lang="es-CL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8421480" y="3429000"/>
            <a:ext cx="2861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Supplier Relationship Management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2"/>
          <p:cNvSpPr/>
          <p:nvPr/>
        </p:nvSpPr>
        <p:spPr>
          <a:xfrm>
            <a:off x="8421480" y="4023360"/>
            <a:ext cx="28616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Interacciones corriente arriba con proveedores: aprovisionamiento, negociación y compra colaborativa.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3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4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2 · EL NÚCLEO TRANSACCIONAL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ERP: Enterprise Resource Planning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"/>
          <p:cNvSpPr/>
          <p:nvPr/>
        </p:nvSpPr>
        <p:spPr>
          <a:xfrm>
            <a:off x="8869680" y="1828800"/>
            <a:ext cx="1919880" cy="19198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"/>
          <p:cNvSpPr/>
          <p:nvPr/>
        </p:nvSpPr>
        <p:spPr>
          <a:xfrm>
            <a:off x="9426600" y="2385720"/>
            <a:ext cx="338400" cy="338400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4"/>
          <p:cNvSpPr/>
          <p:nvPr/>
        </p:nvSpPr>
        <p:spPr>
          <a:xfrm>
            <a:off x="9894240" y="2385720"/>
            <a:ext cx="338400" cy="338400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5"/>
          <p:cNvSpPr/>
          <p:nvPr/>
        </p:nvSpPr>
        <p:spPr>
          <a:xfrm>
            <a:off x="9426600" y="2853360"/>
            <a:ext cx="338400" cy="338400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6"/>
          <p:cNvSpPr/>
          <p:nvPr/>
        </p:nvSpPr>
        <p:spPr>
          <a:xfrm>
            <a:off x="9894240" y="2853360"/>
            <a:ext cx="338400" cy="338400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8503920" y="38862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Back Office</a:t>
            </a:r>
            <a:endParaRPr b="0" lang="es-CL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8"/>
          <p:cNvSpPr/>
          <p:nvPr/>
        </p:nvSpPr>
        <p:spPr>
          <a:xfrm>
            <a:off x="548640" y="1737360"/>
            <a:ext cx="7680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El fundamento de administración de las transacciones (TMF)</a:t>
            </a:r>
            <a:endParaRPr b="0" lang="es-CL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9"/>
          <p:cNvSpPr/>
          <p:nvPr/>
        </p:nvSpPr>
        <p:spPr>
          <a:xfrm>
            <a:off x="548640" y="2286000"/>
            <a:ext cx="7589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El ERP es el Back Office de la empresa: la columna vertebral informacional sobre la que se construyen y comunican los demás sistemas, garantizando una fuente única y coherente de datos transaccionales.</a:t>
            </a:r>
            <a:endParaRPr b="0" lang="es-CL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0"/>
          <p:cNvSpPr/>
          <p:nvPr/>
        </p:nvSpPr>
        <p:spPr>
          <a:xfrm>
            <a:off x="567000" y="3566160"/>
            <a:ext cx="145800" cy="14580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1"/>
          <p:cNvSpPr/>
          <p:nvPr/>
        </p:nvSpPr>
        <p:spPr>
          <a:xfrm>
            <a:off x="868680" y="3465720"/>
            <a:ext cx="7223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Es descriptivo, no predictivo — </a:t>
            </a:r>
            <a:r>
              <a:rPr b="0" lang="en-US" sz="12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Muestra lo que la empresa está haciendo en tiempo real; no ayuda a decidir, sino a registrar.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2"/>
          <p:cNvSpPr/>
          <p:nvPr/>
        </p:nvSpPr>
        <p:spPr>
          <a:xfrm>
            <a:off x="567000" y="4187880"/>
            <a:ext cx="145800" cy="14580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3"/>
          <p:cNvSpPr/>
          <p:nvPr/>
        </p:nvSpPr>
        <p:spPr>
          <a:xfrm>
            <a:off x="868680" y="4087440"/>
            <a:ext cx="7223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Dueño de los datos maestros — </a:t>
            </a:r>
            <a:r>
              <a:rPr b="0" lang="en-US" sz="12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Centraliza el inventario contable, los SKU, listas de materiales y registros de clientes y proveedores.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4"/>
          <p:cNvSpPr/>
          <p:nvPr/>
        </p:nvSpPr>
        <p:spPr>
          <a:xfrm>
            <a:off x="567000" y="4809600"/>
            <a:ext cx="145800" cy="14580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5"/>
          <p:cNvSpPr/>
          <p:nvPr/>
        </p:nvSpPr>
        <p:spPr>
          <a:xfrm>
            <a:off x="868680" y="4709160"/>
            <a:ext cx="7223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Origina las órdenes — </a:t>
            </a:r>
            <a:r>
              <a:rPr b="0" lang="en-US" sz="12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Genera las órdenes de compra y pedidos de venta que los sistemas logísticos ejecutan físicamente.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6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7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8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2 · ARQUITECTURA MODULAR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Un ERP tiene injerencia en toda la empresa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"/>
          <p:cNvSpPr/>
          <p:nvPr/>
        </p:nvSpPr>
        <p:spPr>
          <a:xfrm>
            <a:off x="548640" y="1737360"/>
            <a:ext cx="3584160" cy="1416960"/>
          </a:xfrm>
          <a:prstGeom prst="roundRect">
            <a:avLst>
              <a:gd name="adj" fmla="val 4516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"/>
          <p:cNvSpPr/>
          <p:nvPr/>
        </p:nvSpPr>
        <p:spPr>
          <a:xfrm>
            <a:off x="749880" y="1920240"/>
            <a:ext cx="456840" cy="45684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"/>
          <p:cNvSpPr/>
          <p:nvPr/>
        </p:nvSpPr>
        <p:spPr>
          <a:xfrm>
            <a:off x="882360" y="20527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5"/>
          <p:cNvSpPr/>
          <p:nvPr/>
        </p:nvSpPr>
        <p:spPr>
          <a:xfrm>
            <a:off x="993600" y="20527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6"/>
          <p:cNvSpPr/>
          <p:nvPr/>
        </p:nvSpPr>
        <p:spPr>
          <a:xfrm>
            <a:off x="882360" y="21643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7"/>
          <p:cNvSpPr/>
          <p:nvPr/>
        </p:nvSpPr>
        <p:spPr>
          <a:xfrm>
            <a:off x="993600" y="21643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8"/>
          <p:cNvSpPr/>
          <p:nvPr/>
        </p:nvSpPr>
        <p:spPr>
          <a:xfrm>
            <a:off x="1325880" y="1901880"/>
            <a:ext cx="262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Producción</a:t>
            </a:r>
            <a:endParaRPr b="0" lang="es-C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9"/>
          <p:cNvSpPr/>
          <p:nvPr/>
        </p:nvSpPr>
        <p:spPr>
          <a:xfrm>
            <a:off x="749880" y="2423160"/>
            <a:ext cx="3181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Planificación y control de los procesos de fabricación.</a:t>
            </a:r>
            <a:endParaRPr b="0" lang="es-CL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0"/>
          <p:cNvSpPr/>
          <p:nvPr/>
        </p:nvSpPr>
        <p:spPr>
          <a:xfrm>
            <a:off x="4334400" y="1737360"/>
            <a:ext cx="3584160" cy="1416960"/>
          </a:xfrm>
          <a:prstGeom prst="roundRect">
            <a:avLst>
              <a:gd name="adj" fmla="val 4516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1"/>
          <p:cNvSpPr/>
          <p:nvPr/>
        </p:nvSpPr>
        <p:spPr>
          <a:xfrm>
            <a:off x="4535280" y="1920240"/>
            <a:ext cx="456840" cy="45684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2"/>
          <p:cNvSpPr/>
          <p:nvPr/>
        </p:nvSpPr>
        <p:spPr>
          <a:xfrm>
            <a:off x="4668120" y="20527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3"/>
          <p:cNvSpPr/>
          <p:nvPr/>
        </p:nvSpPr>
        <p:spPr>
          <a:xfrm>
            <a:off x="4779360" y="20527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4"/>
          <p:cNvSpPr/>
          <p:nvPr/>
        </p:nvSpPr>
        <p:spPr>
          <a:xfrm>
            <a:off x="4668120" y="21643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5"/>
          <p:cNvSpPr/>
          <p:nvPr/>
        </p:nvSpPr>
        <p:spPr>
          <a:xfrm>
            <a:off x="4779360" y="21643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6"/>
          <p:cNvSpPr/>
          <p:nvPr/>
        </p:nvSpPr>
        <p:spPr>
          <a:xfrm>
            <a:off x="5111640" y="1901880"/>
            <a:ext cx="262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RRHH</a:t>
            </a:r>
            <a:endParaRPr b="0" lang="es-C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7"/>
          <p:cNvSpPr/>
          <p:nvPr/>
        </p:nvSpPr>
        <p:spPr>
          <a:xfrm>
            <a:off x="4535280" y="2423160"/>
            <a:ext cx="3181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Nóminas, personal y procesos relacionados con los empleados.</a:t>
            </a:r>
            <a:endParaRPr b="0" lang="es-CL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8"/>
          <p:cNvSpPr/>
          <p:nvPr/>
        </p:nvSpPr>
        <p:spPr>
          <a:xfrm>
            <a:off x="8119800" y="1737360"/>
            <a:ext cx="3584160" cy="1416960"/>
          </a:xfrm>
          <a:prstGeom prst="roundRect">
            <a:avLst>
              <a:gd name="adj" fmla="val 4516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9"/>
          <p:cNvSpPr/>
          <p:nvPr/>
        </p:nvSpPr>
        <p:spPr>
          <a:xfrm>
            <a:off x="8321040" y="1920240"/>
            <a:ext cx="456840" cy="45684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0"/>
          <p:cNvSpPr/>
          <p:nvPr/>
        </p:nvSpPr>
        <p:spPr>
          <a:xfrm>
            <a:off x="8453520" y="20527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1"/>
          <p:cNvSpPr/>
          <p:nvPr/>
        </p:nvSpPr>
        <p:spPr>
          <a:xfrm>
            <a:off x="8565120" y="20527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2"/>
          <p:cNvSpPr/>
          <p:nvPr/>
        </p:nvSpPr>
        <p:spPr>
          <a:xfrm>
            <a:off x="8453520" y="21643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3"/>
          <p:cNvSpPr/>
          <p:nvPr/>
        </p:nvSpPr>
        <p:spPr>
          <a:xfrm>
            <a:off x="8565120" y="21643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4"/>
          <p:cNvSpPr/>
          <p:nvPr/>
        </p:nvSpPr>
        <p:spPr>
          <a:xfrm>
            <a:off x="8897040" y="1901880"/>
            <a:ext cx="262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Control de venta</a:t>
            </a:r>
            <a:endParaRPr b="0" lang="es-C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5"/>
          <p:cNvSpPr/>
          <p:nvPr/>
        </p:nvSpPr>
        <p:spPr>
          <a:xfrm>
            <a:off x="8321040" y="2423160"/>
            <a:ext cx="3181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Seguimiento de ventas y procesos comerciales.</a:t>
            </a:r>
            <a:endParaRPr b="0" lang="es-CL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6"/>
          <p:cNvSpPr/>
          <p:nvPr/>
        </p:nvSpPr>
        <p:spPr>
          <a:xfrm>
            <a:off x="548640" y="3355920"/>
            <a:ext cx="3584160" cy="1416960"/>
          </a:xfrm>
          <a:prstGeom prst="roundRect">
            <a:avLst>
              <a:gd name="adj" fmla="val 4516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7"/>
          <p:cNvSpPr/>
          <p:nvPr/>
        </p:nvSpPr>
        <p:spPr>
          <a:xfrm>
            <a:off x="749880" y="3538800"/>
            <a:ext cx="456840" cy="45684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8"/>
          <p:cNvSpPr/>
          <p:nvPr/>
        </p:nvSpPr>
        <p:spPr>
          <a:xfrm>
            <a:off x="882360" y="367128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9"/>
          <p:cNvSpPr/>
          <p:nvPr/>
        </p:nvSpPr>
        <p:spPr>
          <a:xfrm>
            <a:off x="993600" y="367128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0"/>
          <p:cNvSpPr/>
          <p:nvPr/>
        </p:nvSpPr>
        <p:spPr>
          <a:xfrm>
            <a:off x="882360" y="37825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1"/>
          <p:cNvSpPr/>
          <p:nvPr/>
        </p:nvSpPr>
        <p:spPr>
          <a:xfrm>
            <a:off x="993600" y="37825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2"/>
          <p:cNvSpPr/>
          <p:nvPr/>
        </p:nvSpPr>
        <p:spPr>
          <a:xfrm>
            <a:off x="1325880" y="3520440"/>
            <a:ext cx="262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Control de stock</a:t>
            </a:r>
            <a:endParaRPr b="0" lang="es-C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3"/>
          <p:cNvSpPr/>
          <p:nvPr/>
        </p:nvSpPr>
        <p:spPr>
          <a:xfrm>
            <a:off x="749880" y="4041720"/>
            <a:ext cx="3181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Administración de niveles de inventario.</a:t>
            </a:r>
            <a:endParaRPr b="0" lang="es-CL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4"/>
          <p:cNvSpPr/>
          <p:nvPr/>
        </p:nvSpPr>
        <p:spPr>
          <a:xfrm>
            <a:off x="4334400" y="3355920"/>
            <a:ext cx="3584160" cy="1416960"/>
          </a:xfrm>
          <a:prstGeom prst="roundRect">
            <a:avLst>
              <a:gd name="adj" fmla="val 4516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5"/>
          <p:cNvSpPr/>
          <p:nvPr/>
        </p:nvSpPr>
        <p:spPr>
          <a:xfrm>
            <a:off x="4535280" y="3538800"/>
            <a:ext cx="456840" cy="45684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6"/>
          <p:cNvSpPr/>
          <p:nvPr/>
        </p:nvSpPr>
        <p:spPr>
          <a:xfrm>
            <a:off x="4668120" y="367128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7"/>
          <p:cNvSpPr/>
          <p:nvPr/>
        </p:nvSpPr>
        <p:spPr>
          <a:xfrm>
            <a:off x="4779360" y="367128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8"/>
          <p:cNvSpPr/>
          <p:nvPr/>
        </p:nvSpPr>
        <p:spPr>
          <a:xfrm>
            <a:off x="4668120" y="37825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9"/>
          <p:cNvSpPr/>
          <p:nvPr/>
        </p:nvSpPr>
        <p:spPr>
          <a:xfrm>
            <a:off x="4779360" y="37825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0"/>
          <p:cNvSpPr/>
          <p:nvPr/>
        </p:nvSpPr>
        <p:spPr>
          <a:xfrm>
            <a:off x="5111640" y="3520440"/>
            <a:ext cx="262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Contabilidad y finanzas</a:t>
            </a:r>
            <a:endParaRPr b="0" lang="es-C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1"/>
          <p:cNvSpPr/>
          <p:nvPr/>
        </p:nvSpPr>
        <p:spPr>
          <a:xfrm>
            <a:off x="4535280" y="4041720"/>
            <a:ext cx="3181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Facturas, contabilidad general, costos y beneficios.</a:t>
            </a:r>
            <a:endParaRPr b="0" lang="es-CL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42"/>
          <p:cNvSpPr/>
          <p:nvPr/>
        </p:nvSpPr>
        <p:spPr>
          <a:xfrm>
            <a:off x="8119800" y="3355920"/>
            <a:ext cx="3584160" cy="1416960"/>
          </a:xfrm>
          <a:prstGeom prst="roundRect">
            <a:avLst>
              <a:gd name="adj" fmla="val 4516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3"/>
          <p:cNvSpPr/>
          <p:nvPr/>
        </p:nvSpPr>
        <p:spPr>
          <a:xfrm>
            <a:off x="8321040" y="3538800"/>
            <a:ext cx="456840" cy="45684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44"/>
          <p:cNvSpPr/>
          <p:nvPr/>
        </p:nvSpPr>
        <p:spPr>
          <a:xfrm>
            <a:off x="8453520" y="367128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5"/>
          <p:cNvSpPr/>
          <p:nvPr/>
        </p:nvSpPr>
        <p:spPr>
          <a:xfrm>
            <a:off x="8565120" y="367128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6"/>
          <p:cNvSpPr/>
          <p:nvPr/>
        </p:nvSpPr>
        <p:spPr>
          <a:xfrm>
            <a:off x="8453520" y="37825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47"/>
          <p:cNvSpPr/>
          <p:nvPr/>
        </p:nvSpPr>
        <p:spPr>
          <a:xfrm>
            <a:off x="8565120" y="3782520"/>
            <a:ext cx="80280" cy="80280"/>
          </a:xfrm>
          <a:prstGeom prst="roundRect">
            <a:avLst>
              <a:gd name="adj" fmla="val 2267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8"/>
          <p:cNvSpPr/>
          <p:nvPr/>
        </p:nvSpPr>
        <p:spPr>
          <a:xfrm>
            <a:off x="8897040" y="3520440"/>
            <a:ext cx="262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Suministro y proveedores</a:t>
            </a:r>
            <a:endParaRPr b="0" lang="es-C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9"/>
          <p:cNvSpPr/>
          <p:nvPr/>
        </p:nvSpPr>
        <p:spPr>
          <a:xfrm>
            <a:off x="8321040" y="4041720"/>
            <a:ext cx="3181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Gestión de compras y relación con la base de proveedores.</a:t>
            </a:r>
            <a:endParaRPr b="0" lang="es-CL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0"/>
          <p:cNvSpPr/>
          <p:nvPr/>
        </p:nvSpPr>
        <p:spPr>
          <a:xfrm>
            <a:off x="548640" y="580644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Objetivo final: centralizar la gestión integral de la empresa, mejorando la comunicación interdepartamental y el acceso a los datos.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51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52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2 · BALANCE ESTRATÉGICO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Ventajas, desafíos y actores del mercado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"/>
          <p:cNvSpPr/>
          <p:nvPr/>
        </p:nvSpPr>
        <p:spPr>
          <a:xfrm>
            <a:off x="548640" y="1737360"/>
            <a:ext cx="5348880" cy="2788560"/>
          </a:xfrm>
          <a:prstGeom prst="roundRect">
            <a:avLst>
              <a:gd name="adj" fmla="val 2623"/>
            </a:avLst>
          </a:prstGeom>
          <a:solidFill>
            <a:srgbClr val="e8ef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822960" y="19202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Fortalezas</a:t>
            </a:r>
            <a:endParaRPr b="0" lang="es-CL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822960" y="2286000"/>
            <a:ext cx="48002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•  Centraliza la gestión de toda la empresa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•  Fuente única y coherente de datos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•  Reduce costos de producción, stock y almacenaje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•  Mejora la comunicación interdepartamental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5"/>
          <p:cNvSpPr/>
          <p:nvPr/>
        </p:nvSpPr>
        <p:spPr>
          <a:xfrm>
            <a:off x="6080760" y="1737360"/>
            <a:ext cx="5531760" cy="2788560"/>
          </a:xfrm>
          <a:prstGeom prst="roundRect">
            <a:avLst>
              <a:gd name="adj" fmla="val 2623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6355080" y="19202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Desafíos de implementación</a:t>
            </a:r>
            <a:endParaRPr b="0" lang="es-CL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7"/>
          <p:cNvSpPr/>
          <p:nvPr/>
        </p:nvSpPr>
        <p:spPr>
          <a:xfrm>
            <a:off x="6355080" y="2286000"/>
            <a:ext cx="50288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•  Alto costo de implementación y mantención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•  Lentitud: entre uno y tres años de despliegue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•  Exige una cultura organizacional disciplinada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•  Rigidez y riesgo de caídas del sistema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8"/>
          <p:cNvSpPr/>
          <p:nvPr/>
        </p:nvSpPr>
        <p:spPr>
          <a:xfrm>
            <a:off x="548640" y="480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50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ALGUNOS ERP EN EL MERCADO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9"/>
          <p:cNvSpPr/>
          <p:nvPr/>
        </p:nvSpPr>
        <p:spPr>
          <a:xfrm>
            <a:off x="548640" y="5120640"/>
            <a:ext cx="1663920" cy="59400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548640" y="5120640"/>
            <a:ext cx="1663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SAP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1"/>
          <p:cNvSpPr/>
          <p:nvPr/>
        </p:nvSpPr>
        <p:spPr>
          <a:xfrm>
            <a:off x="2350080" y="5120640"/>
            <a:ext cx="1663920" cy="59400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2"/>
          <p:cNvSpPr/>
          <p:nvPr/>
        </p:nvSpPr>
        <p:spPr>
          <a:xfrm>
            <a:off x="2350080" y="5120640"/>
            <a:ext cx="1663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Oracle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3"/>
          <p:cNvSpPr/>
          <p:nvPr/>
        </p:nvSpPr>
        <p:spPr>
          <a:xfrm>
            <a:off x="4151520" y="5120640"/>
            <a:ext cx="1663920" cy="59400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4"/>
          <p:cNvSpPr/>
          <p:nvPr/>
        </p:nvSpPr>
        <p:spPr>
          <a:xfrm>
            <a:off x="4151520" y="5120640"/>
            <a:ext cx="1663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Softland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5"/>
          <p:cNvSpPr/>
          <p:nvPr/>
        </p:nvSpPr>
        <p:spPr>
          <a:xfrm>
            <a:off x="5952600" y="5120640"/>
            <a:ext cx="1663920" cy="59400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6"/>
          <p:cNvSpPr/>
          <p:nvPr/>
        </p:nvSpPr>
        <p:spPr>
          <a:xfrm>
            <a:off x="5952600" y="5120640"/>
            <a:ext cx="1663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Defontana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7"/>
          <p:cNvSpPr/>
          <p:nvPr/>
        </p:nvSpPr>
        <p:spPr>
          <a:xfrm>
            <a:off x="7754040" y="5120640"/>
            <a:ext cx="1663920" cy="59400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8"/>
          <p:cNvSpPr/>
          <p:nvPr/>
        </p:nvSpPr>
        <p:spPr>
          <a:xfrm>
            <a:off x="7754040" y="5120640"/>
            <a:ext cx="1663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IFS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9"/>
          <p:cNvSpPr/>
          <p:nvPr/>
        </p:nvSpPr>
        <p:spPr>
          <a:xfrm>
            <a:off x="9555480" y="5120640"/>
            <a:ext cx="1663920" cy="59400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0"/>
          <p:cNvSpPr/>
          <p:nvPr/>
        </p:nvSpPr>
        <p:spPr>
          <a:xfrm>
            <a:off x="9555480" y="5120640"/>
            <a:ext cx="1663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PeopleSoft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1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2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3 · GESTIÓN DE LA DEMANDA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CRM: Customer Relationship Management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"/>
          <p:cNvSpPr/>
          <p:nvPr/>
        </p:nvSpPr>
        <p:spPr>
          <a:xfrm>
            <a:off x="8869680" y="1828800"/>
            <a:ext cx="1919880" cy="19198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9426600" y="2482560"/>
            <a:ext cx="499680" cy="499680"/>
          </a:xfrm>
          <a:prstGeom prst="ellipse">
            <a:avLst/>
          </a:pr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"/>
          <p:cNvSpPr/>
          <p:nvPr/>
        </p:nvSpPr>
        <p:spPr>
          <a:xfrm>
            <a:off x="9732960" y="2369520"/>
            <a:ext cx="402840" cy="4028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8412480" y="38862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Front Office</a:t>
            </a:r>
            <a:endParaRPr b="0" lang="es-CL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548640" y="1737360"/>
            <a:ext cx="7680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El Front Office de la empresa</a:t>
            </a:r>
            <a:endParaRPr b="0" lang="es-CL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548640" y="2286000"/>
            <a:ext cx="7589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Gestiona todas las interacciones corriente abajo con los clientes. Su objetivo es generar demanda, facilitar el ciclo completo del pedido y mejorar la rentabilidad de cada relación con el cliente.</a:t>
            </a:r>
            <a:endParaRPr b="0" lang="es-CL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8"/>
          <p:cNvSpPr/>
          <p:nvPr/>
        </p:nvSpPr>
        <p:spPr>
          <a:xfrm>
            <a:off x="567000" y="3611880"/>
            <a:ext cx="145800" cy="14580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9"/>
          <p:cNvSpPr/>
          <p:nvPr/>
        </p:nvSpPr>
        <p:spPr>
          <a:xfrm>
            <a:off x="868680" y="351144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Más dinámico y ágil que el ERP — </a:t>
            </a:r>
            <a:r>
              <a:rPr b="0" lang="en-US" sz="12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Automatiza los procesos de venta y la gestión de tareas comerciales.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0"/>
          <p:cNvSpPr/>
          <p:nvPr/>
        </p:nvSpPr>
        <p:spPr>
          <a:xfrm>
            <a:off x="567000" y="4233600"/>
            <a:ext cx="145800" cy="14580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868680" y="413316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Toda la demanda nace del cliente — </a:t>
            </a:r>
            <a:r>
              <a:rPr b="0" lang="en-US" sz="12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Por eso es crítico para incrementar el superávit de la cadena de suministro.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2"/>
          <p:cNvSpPr/>
          <p:nvPr/>
        </p:nvSpPr>
        <p:spPr>
          <a:xfrm>
            <a:off x="567000" y="4855320"/>
            <a:ext cx="145800" cy="14580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3"/>
          <p:cNvSpPr/>
          <p:nvPr/>
        </p:nvSpPr>
        <p:spPr>
          <a:xfrm>
            <a:off x="868680" y="4754880"/>
            <a:ext cx="7223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Menor costo relativo — </a:t>
            </a:r>
            <a:r>
              <a:rPr b="0" lang="en-US" sz="12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Es accesible para empresas de cualquier tamaño; todas las empresas venden.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4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5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3 · PROCESOS CLAVE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Los cuatro procesos del CRM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"/>
          <p:cNvSpPr/>
          <p:nvPr/>
        </p:nvSpPr>
        <p:spPr>
          <a:xfrm>
            <a:off x="548640" y="1783080"/>
            <a:ext cx="2651400" cy="3565800"/>
          </a:xfrm>
          <a:prstGeom prst="roundRect">
            <a:avLst>
              <a:gd name="adj" fmla="val 275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3"/>
          <p:cNvSpPr/>
          <p:nvPr/>
        </p:nvSpPr>
        <p:spPr>
          <a:xfrm>
            <a:off x="777240" y="20574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"/>
          <p:cNvSpPr/>
          <p:nvPr/>
        </p:nvSpPr>
        <p:spPr>
          <a:xfrm>
            <a:off x="941760" y="2250360"/>
            <a:ext cx="147240" cy="147240"/>
          </a:xfrm>
          <a:prstGeom prst="ellipse">
            <a:avLst/>
          </a:pr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5"/>
          <p:cNvSpPr/>
          <p:nvPr/>
        </p:nvSpPr>
        <p:spPr>
          <a:xfrm>
            <a:off x="1032120" y="2216880"/>
            <a:ext cx="118800" cy="1188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9240" bIns="3924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6"/>
          <p:cNvSpPr/>
          <p:nvPr/>
        </p:nvSpPr>
        <p:spPr>
          <a:xfrm>
            <a:off x="777240" y="278892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Marketing</a:t>
            </a:r>
            <a:endParaRPr b="0" lang="es-CL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7"/>
          <p:cNvSpPr/>
          <p:nvPr/>
        </p:nvSpPr>
        <p:spPr>
          <a:xfrm>
            <a:off x="777240" y="3520440"/>
            <a:ext cx="21942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Segmentación de mercado, análisis de rentabilidad por cliente y fijación de precios estratégicos.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8"/>
          <p:cNvSpPr/>
          <p:nvPr/>
        </p:nvSpPr>
        <p:spPr>
          <a:xfrm>
            <a:off x="3401640" y="1783080"/>
            <a:ext cx="2651400" cy="3565800"/>
          </a:xfrm>
          <a:prstGeom prst="roundRect">
            <a:avLst>
              <a:gd name="adj" fmla="val 275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9"/>
          <p:cNvSpPr/>
          <p:nvPr/>
        </p:nvSpPr>
        <p:spPr>
          <a:xfrm>
            <a:off x="3630240" y="20574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0"/>
          <p:cNvSpPr/>
          <p:nvPr/>
        </p:nvSpPr>
        <p:spPr>
          <a:xfrm>
            <a:off x="3794400" y="2221920"/>
            <a:ext cx="237600" cy="237600"/>
          </a:xfrm>
          <a:prstGeom prst="ellipse">
            <a:avLst/>
          </a:prstGeom>
          <a:noFill/>
          <a:ln w="222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1"/>
          <p:cNvSpPr/>
          <p:nvPr/>
        </p:nvSpPr>
        <p:spPr>
          <a:xfrm>
            <a:off x="3630240" y="278892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Venta</a:t>
            </a:r>
            <a:endParaRPr b="0" lang="es-CL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2"/>
          <p:cNvSpPr/>
          <p:nvPr/>
        </p:nvSpPr>
        <p:spPr>
          <a:xfrm>
            <a:off x="3630240" y="3520440"/>
            <a:ext cx="21942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Configuración de pedidos, visibilidad de stock y fechas de entrega precisas para el cliente.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3"/>
          <p:cNvSpPr/>
          <p:nvPr/>
        </p:nvSpPr>
        <p:spPr>
          <a:xfrm>
            <a:off x="6254640" y="1783080"/>
            <a:ext cx="2651400" cy="3565800"/>
          </a:xfrm>
          <a:prstGeom prst="roundRect">
            <a:avLst>
              <a:gd name="adj" fmla="val 275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4"/>
          <p:cNvSpPr/>
          <p:nvPr/>
        </p:nvSpPr>
        <p:spPr>
          <a:xfrm>
            <a:off x="6483240" y="20574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5"/>
          <p:cNvSpPr/>
          <p:nvPr/>
        </p:nvSpPr>
        <p:spPr>
          <a:xfrm>
            <a:off x="6647400" y="2269440"/>
            <a:ext cx="190080" cy="142560"/>
          </a:xfrm>
          <a:prstGeom prst="roundRect">
            <a:avLst>
              <a:gd name="adj" fmla="val 19201"/>
            </a:avLst>
          </a:pr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6"/>
          <p:cNvSpPr/>
          <p:nvPr/>
        </p:nvSpPr>
        <p:spPr>
          <a:xfrm>
            <a:off x="6647400" y="2269080"/>
            <a:ext cx="19044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7"/>
          <p:cNvSpPr/>
          <p:nvPr/>
        </p:nvSpPr>
        <p:spPr>
          <a:xfrm>
            <a:off x="6742440" y="2221560"/>
            <a:ext cx="360" cy="4752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520" bIns="252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8"/>
          <p:cNvSpPr/>
          <p:nvPr/>
        </p:nvSpPr>
        <p:spPr>
          <a:xfrm>
            <a:off x="6483240" y="278892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Administración de pedidos</a:t>
            </a:r>
            <a:endParaRPr b="0" lang="es-CL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9"/>
          <p:cNvSpPr/>
          <p:nvPr/>
        </p:nvSpPr>
        <p:spPr>
          <a:xfrm>
            <a:off x="6483240" y="3520440"/>
            <a:ext cx="21942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Seguimiento del pedido a través de la organización, dando visibilidad de su estado.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0"/>
          <p:cNvSpPr/>
          <p:nvPr/>
        </p:nvSpPr>
        <p:spPr>
          <a:xfrm>
            <a:off x="9107280" y="1783080"/>
            <a:ext cx="2651400" cy="3565800"/>
          </a:xfrm>
          <a:prstGeom prst="roundRect">
            <a:avLst>
              <a:gd name="adj" fmla="val 275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1"/>
          <p:cNvSpPr/>
          <p:nvPr/>
        </p:nvSpPr>
        <p:spPr>
          <a:xfrm>
            <a:off x="9335880" y="20574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2"/>
          <p:cNvSpPr/>
          <p:nvPr/>
        </p:nvSpPr>
        <p:spPr>
          <a:xfrm>
            <a:off x="9476640" y="2257560"/>
            <a:ext cx="130680" cy="8280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160" bIns="381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3"/>
          <p:cNvSpPr/>
          <p:nvPr/>
        </p:nvSpPr>
        <p:spPr>
          <a:xfrm>
            <a:off x="9607680" y="2264760"/>
            <a:ext cx="70920" cy="70920"/>
          </a:xfrm>
          <a:prstGeom prst="ellipse">
            <a:avLst/>
          </a:prstGeom>
          <a:noFill/>
          <a:ln w="222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4"/>
          <p:cNvSpPr/>
          <p:nvPr/>
        </p:nvSpPr>
        <p:spPr>
          <a:xfrm>
            <a:off x="9335880" y="278892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Servicio / Call Center</a:t>
            </a:r>
            <a:endParaRPr b="0" lang="es-CL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5"/>
          <p:cNvSpPr/>
          <p:nvPr/>
        </p:nvSpPr>
        <p:spPr>
          <a:xfrm>
            <a:off x="9335880" y="3520440"/>
            <a:ext cx="21942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Punto de contacto que resuelve problemas y entrega información actualizada al cliente.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6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7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3 · INTEGRACIÓN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La conexión CRM → ERP activa la estrategia Pull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"/>
          <p:cNvSpPr/>
          <p:nvPr/>
        </p:nvSpPr>
        <p:spPr>
          <a:xfrm>
            <a:off x="548640" y="2286000"/>
            <a:ext cx="2422800" cy="1371240"/>
          </a:xfrm>
          <a:prstGeom prst="roundRect">
            <a:avLst>
              <a:gd name="adj" fmla="val 5333"/>
            </a:avLst>
          </a:prstGeom>
          <a:solidFill>
            <a:srgbClr val="e8ef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731520" y="2468880"/>
            <a:ext cx="2057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Cliente</a:t>
            </a:r>
            <a:endParaRPr b="0" lang="es-CL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4"/>
          <p:cNvSpPr/>
          <p:nvPr/>
        </p:nvSpPr>
        <p:spPr>
          <a:xfrm>
            <a:off x="731520" y="2907720"/>
            <a:ext cx="2057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Genera la orden de compra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5"/>
          <p:cNvSpPr/>
          <p:nvPr/>
        </p:nvSpPr>
        <p:spPr>
          <a:xfrm>
            <a:off x="3044880" y="2843640"/>
            <a:ext cx="365400" cy="255600"/>
          </a:xfrm>
          <a:prstGeom prst="chevron">
            <a:avLst>
              <a:gd name="adj" fmla="val 50000"/>
            </a:avLst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6"/>
          <p:cNvSpPr/>
          <p:nvPr/>
        </p:nvSpPr>
        <p:spPr>
          <a:xfrm>
            <a:off x="3474720" y="2286000"/>
            <a:ext cx="2422800" cy="137124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7"/>
          <p:cNvSpPr/>
          <p:nvPr/>
        </p:nvSpPr>
        <p:spPr>
          <a:xfrm>
            <a:off x="3657600" y="2468880"/>
            <a:ext cx="2057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CRM</a:t>
            </a:r>
            <a:endParaRPr b="0" lang="es-CL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8"/>
          <p:cNvSpPr/>
          <p:nvPr/>
        </p:nvSpPr>
        <p:spPr>
          <a:xfrm>
            <a:off x="3657600" y="2907720"/>
            <a:ext cx="2057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ce3f7"/>
                </a:solidFill>
                <a:effectLst/>
                <a:uFillTx/>
                <a:latin typeface="Calibri"/>
                <a:ea typeface="Calibri"/>
              </a:rPr>
              <a:t>Captura y gestiona el pedido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9"/>
          <p:cNvSpPr/>
          <p:nvPr/>
        </p:nvSpPr>
        <p:spPr>
          <a:xfrm>
            <a:off x="5970960" y="2843640"/>
            <a:ext cx="365400" cy="255600"/>
          </a:xfrm>
          <a:prstGeom prst="chevron">
            <a:avLst>
              <a:gd name="adj" fmla="val 50000"/>
            </a:avLst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0"/>
          <p:cNvSpPr/>
          <p:nvPr/>
        </p:nvSpPr>
        <p:spPr>
          <a:xfrm>
            <a:off x="6400800" y="2286000"/>
            <a:ext cx="2422800" cy="137124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1"/>
          <p:cNvSpPr/>
          <p:nvPr/>
        </p:nvSpPr>
        <p:spPr>
          <a:xfrm>
            <a:off x="6583680" y="2468880"/>
            <a:ext cx="2057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ERP</a:t>
            </a:r>
            <a:endParaRPr b="0" lang="es-CL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2"/>
          <p:cNvSpPr/>
          <p:nvPr/>
        </p:nvSpPr>
        <p:spPr>
          <a:xfrm>
            <a:off x="6583680" y="2907720"/>
            <a:ext cx="2057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dce3f7"/>
                </a:solidFill>
                <a:effectLst/>
                <a:uFillTx/>
                <a:latin typeface="Calibri"/>
                <a:ea typeface="Calibri"/>
              </a:rPr>
              <a:t>Valida crédito y crea la orden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3"/>
          <p:cNvSpPr/>
          <p:nvPr/>
        </p:nvSpPr>
        <p:spPr>
          <a:xfrm>
            <a:off x="8897040" y="2843640"/>
            <a:ext cx="365400" cy="255600"/>
          </a:xfrm>
          <a:prstGeom prst="chevron">
            <a:avLst>
              <a:gd name="adj" fmla="val 50000"/>
            </a:avLst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4"/>
          <p:cNvSpPr/>
          <p:nvPr/>
        </p:nvSpPr>
        <p:spPr>
          <a:xfrm>
            <a:off x="9326880" y="2286000"/>
            <a:ext cx="2422800" cy="1371240"/>
          </a:xfrm>
          <a:prstGeom prst="roundRect">
            <a:avLst>
              <a:gd name="adj" fmla="val 5333"/>
            </a:avLst>
          </a:prstGeom>
          <a:solidFill>
            <a:srgbClr val="e8ef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5"/>
          <p:cNvSpPr/>
          <p:nvPr/>
        </p:nvSpPr>
        <p:spPr>
          <a:xfrm>
            <a:off x="9509760" y="2468880"/>
            <a:ext cx="2057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Cadena interna</a:t>
            </a:r>
            <a:endParaRPr b="0" lang="es-CL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6"/>
          <p:cNvSpPr/>
          <p:nvPr/>
        </p:nvSpPr>
        <p:spPr>
          <a:xfrm>
            <a:off x="9509760" y="2907720"/>
            <a:ext cx="2057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Gatilla producción y despacho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7"/>
          <p:cNvSpPr/>
          <p:nvPr/>
        </p:nvSpPr>
        <p:spPr>
          <a:xfrm>
            <a:off x="548640" y="42062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Estrategia Pull: la demanda real del cliente —capturada por el CRM— es la que inyecta la orden al ERP y activa la producción o el despacho Just-in-Time, en lugar de basarse en un pronóstico.</a:t>
            </a:r>
            <a:endParaRPr b="0" lang="es-CL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8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9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4 · EJECUCIÓN OPERATIVA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WMS: Warehouse Management System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"/>
          <p:cNvSpPr/>
          <p:nvPr/>
        </p:nvSpPr>
        <p:spPr>
          <a:xfrm>
            <a:off x="548640" y="173736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El corazón de los procesos de distribución física. Optimiza el uso del espacio, la mano de obra y garantiza la exactitud del inventario y el cumplimiento de las órdenes.</a:t>
            </a:r>
            <a:endParaRPr b="0" lang="es-CL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3"/>
          <p:cNvSpPr/>
          <p:nvPr/>
        </p:nvSpPr>
        <p:spPr>
          <a:xfrm>
            <a:off x="548640" y="2560320"/>
            <a:ext cx="2651400" cy="2834280"/>
          </a:xfrm>
          <a:prstGeom prst="roundRect">
            <a:avLst>
              <a:gd name="adj" fmla="val 275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"/>
          <p:cNvSpPr/>
          <p:nvPr/>
        </p:nvSpPr>
        <p:spPr>
          <a:xfrm>
            <a:off x="777240" y="2834640"/>
            <a:ext cx="548280" cy="54828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5"/>
          <p:cNvSpPr/>
          <p:nvPr/>
        </p:nvSpPr>
        <p:spPr>
          <a:xfrm>
            <a:off x="936360" y="3039840"/>
            <a:ext cx="183960" cy="137880"/>
          </a:xfrm>
          <a:prstGeom prst="roundRect">
            <a:avLst>
              <a:gd name="adj" fmla="val 19841"/>
            </a:avLst>
          </a:pr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6"/>
          <p:cNvSpPr/>
          <p:nvPr/>
        </p:nvSpPr>
        <p:spPr>
          <a:xfrm>
            <a:off x="936000" y="3039480"/>
            <a:ext cx="18468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7"/>
          <p:cNvSpPr/>
          <p:nvPr/>
        </p:nvSpPr>
        <p:spPr>
          <a:xfrm>
            <a:off x="1028160" y="2993400"/>
            <a:ext cx="360" cy="4608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80" bIns="108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8"/>
          <p:cNvSpPr/>
          <p:nvPr/>
        </p:nvSpPr>
        <p:spPr>
          <a:xfrm>
            <a:off x="2423160" y="272484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b="0" lang="es-C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9"/>
          <p:cNvSpPr/>
          <p:nvPr/>
        </p:nvSpPr>
        <p:spPr>
          <a:xfrm>
            <a:off x="777240" y="352044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Recepción</a:t>
            </a:r>
            <a:endParaRPr b="0" lang="es-C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0"/>
          <p:cNvSpPr/>
          <p:nvPr/>
        </p:nvSpPr>
        <p:spPr>
          <a:xfrm>
            <a:off x="777240" y="3977640"/>
            <a:ext cx="21942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Control ciego y validación electrónica contra la ASN (Advanced Shipping Notice).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1"/>
          <p:cNvSpPr/>
          <p:nvPr/>
        </p:nvSpPr>
        <p:spPr>
          <a:xfrm>
            <a:off x="3401640" y="2560320"/>
            <a:ext cx="2651400" cy="2834280"/>
          </a:xfrm>
          <a:prstGeom prst="roundRect">
            <a:avLst>
              <a:gd name="adj" fmla="val 275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2"/>
          <p:cNvSpPr/>
          <p:nvPr/>
        </p:nvSpPr>
        <p:spPr>
          <a:xfrm>
            <a:off x="3630240" y="2834640"/>
            <a:ext cx="548280" cy="54828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3"/>
          <p:cNvSpPr/>
          <p:nvPr/>
        </p:nvSpPr>
        <p:spPr>
          <a:xfrm>
            <a:off x="3789360" y="3039840"/>
            <a:ext cx="183960" cy="137880"/>
          </a:xfrm>
          <a:prstGeom prst="roundRect">
            <a:avLst>
              <a:gd name="adj" fmla="val 19841"/>
            </a:avLst>
          </a:pr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4"/>
          <p:cNvSpPr/>
          <p:nvPr/>
        </p:nvSpPr>
        <p:spPr>
          <a:xfrm>
            <a:off x="3789000" y="3039480"/>
            <a:ext cx="18432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5"/>
          <p:cNvSpPr/>
          <p:nvPr/>
        </p:nvSpPr>
        <p:spPr>
          <a:xfrm>
            <a:off x="3881160" y="2993400"/>
            <a:ext cx="360" cy="4608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80" bIns="108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6"/>
          <p:cNvSpPr/>
          <p:nvPr/>
        </p:nvSpPr>
        <p:spPr>
          <a:xfrm>
            <a:off x="5276160" y="272484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b="0" lang="es-C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7"/>
          <p:cNvSpPr/>
          <p:nvPr/>
        </p:nvSpPr>
        <p:spPr>
          <a:xfrm>
            <a:off x="3630240" y="352044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Almacenamiento</a:t>
            </a:r>
            <a:endParaRPr b="0" lang="es-C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8"/>
          <p:cNvSpPr/>
          <p:nvPr/>
        </p:nvSpPr>
        <p:spPr>
          <a:xfrm>
            <a:off x="3630240" y="3977640"/>
            <a:ext cx="21942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Asignación de ubicación óptima según rotación (ABC), tamaño o características.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9"/>
          <p:cNvSpPr/>
          <p:nvPr/>
        </p:nvSpPr>
        <p:spPr>
          <a:xfrm>
            <a:off x="6254640" y="2560320"/>
            <a:ext cx="2651400" cy="2834280"/>
          </a:xfrm>
          <a:prstGeom prst="roundRect">
            <a:avLst>
              <a:gd name="adj" fmla="val 275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0"/>
          <p:cNvSpPr/>
          <p:nvPr/>
        </p:nvSpPr>
        <p:spPr>
          <a:xfrm>
            <a:off x="6483240" y="2834640"/>
            <a:ext cx="548280" cy="54828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1"/>
          <p:cNvSpPr/>
          <p:nvPr/>
        </p:nvSpPr>
        <p:spPr>
          <a:xfrm>
            <a:off x="6642360" y="3039840"/>
            <a:ext cx="183960" cy="137880"/>
          </a:xfrm>
          <a:prstGeom prst="roundRect">
            <a:avLst>
              <a:gd name="adj" fmla="val 19841"/>
            </a:avLst>
          </a:pr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22"/>
          <p:cNvSpPr/>
          <p:nvPr/>
        </p:nvSpPr>
        <p:spPr>
          <a:xfrm>
            <a:off x="6642000" y="3039480"/>
            <a:ext cx="18432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3"/>
          <p:cNvSpPr/>
          <p:nvPr/>
        </p:nvSpPr>
        <p:spPr>
          <a:xfrm>
            <a:off x="6734160" y="2993400"/>
            <a:ext cx="360" cy="4608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80" bIns="108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4"/>
          <p:cNvSpPr/>
          <p:nvPr/>
        </p:nvSpPr>
        <p:spPr>
          <a:xfrm>
            <a:off x="8129160" y="272484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b="0" lang="es-C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5"/>
          <p:cNvSpPr/>
          <p:nvPr/>
        </p:nvSpPr>
        <p:spPr>
          <a:xfrm>
            <a:off x="6483240" y="352044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Picking &amp; Packing</a:t>
            </a:r>
            <a:endParaRPr b="0" lang="es-C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6"/>
          <p:cNvSpPr/>
          <p:nvPr/>
        </p:nvSpPr>
        <p:spPr>
          <a:xfrm>
            <a:off x="6483240" y="3977640"/>
            <a:ext cx="21942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Optimiza rutas de picking, atacando hasta el 80% del costo del proceso.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27"/>
          <p:cNvSpPr/>
          <p:nvPr/>
        </p:nvSpPr>
        <p:spPr>
          <a:xfrm>
            <a:off x="9107280" y="2560320"/>
            <a:ext cx="2651400" cy="2834280"/>
          </a:xfrm>
          <a:prstGeom prst="roundRect">
            <a:avLst>
              <a:gd name="adj" fmla="val 2759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28"/>
          <p:cNvSpPr/>
          <p:nvPr/>
        </p:nvSpPr>
        <p:spPr>
          <a:xfrm>
            <a:off x="9335880" y="2834640"/>
            <a:ext cx="548280" cy="54828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29"/>
          <p:cNvSpPr/>
          <p:nvPr/>
        </p:nvSpPr>
        <p:spPr>
          <a:xfrm>
            <a:off x="9495000" y="3039840"/>
            <a:ext cx="183960" cy="137880"/>
          </a:xfrm>
          <a:prstGeom prst="roundRect">
            <a:avLst>
              <a:gd name="adj" fmla="val 19841"/>
            </a:avLst>
          </a:pr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0"/>
          <p:cNvSpPr/>
          <p:nvPr/>
        </p:nvSpPr>
        <p:spPr>
          <a:xfrm>
            <a:off x="9495000" y="3039480"/>
            <a:ext cx="18432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1"/>
          <p:cNvSpPr/>
          <p:nvPr/>
        </p:nvSpPr>
        <p:spPr>
          <a:xfrm>
            <a:off x="9587160" y="2993400"/>
            <a:ext cx="360" cy="4608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80" bIns="108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2"/>
          <p:cNvSpPr/>
          <p:nvPr/>
        </p:nvSpPr>
        <p:spPr>
          <a:xfrm>
            <a:off x="10981800" y="272484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b="0" lang="es-C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33"/>
          <p:cNvSpPr/>
          <p:nvPr/>
        </p:nvSpPr>
        <p:spPr>
          <a:xfrm>
            <a:off x="9335880" y="352044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Control de inventario</a:t>
            </a:r>
            <a:endParaRPr b="0" lang="es-C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34"/>
          <p:cNvSpPr/>
          <p:nvPr/>
        </p:nvSpPr>
        <p:spPr>
          <a:xfrm>
            <a:off x="9335880" y="3977640"/>
            <a:ext cx="21942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Conteos cíclicos continuos que corrigen desviaciones sin detener la operación.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35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6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4 · TECNOLOGÍAS HABILITADORAS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Cómo opera un WMS moderno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"/>
          <p:cNvSpPr/>
          <p:nvPr/>
        </p:nvSpPr>
        <p:spPr>
          <a:xfrm>
            <a:off x="548640" y="1783080"/>
            <a:ext cx="3501720" cy="324576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3"/>
          <p:cNvSpPr/>
          <p:nvPr/>
        </p:nvSpPr>
        <p:spPr>
          <a:xfrm>
            <a:off x="822960" y="2057400"/>
            <a:ext cx="639720" cy="63972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4"/>
          <p:cNvSpPr/>
          <p:nvPr/>
        </p:nvSpPr>
        <p:spPr>
          <a:xfrm>
            <a:off x="1098360" y="2166120"/>
            <a:ext cx="89280" cy="89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5"/>
          <p:cNvSpPr/>
          <p:nvPr/>
        </p:nvSpPr>
        <p:spPr>
          <a:xfrm>
            <a:off x="931680" y="2448000"/>
            <a:ext cx="89280" cy="89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6"/>
          <p:cNvSpPr/>
          <p:nvPr/>
        </p:nvSpPr>
        <p:spPr>
          <a:xfrm>
            <a:off x="1264680" y="2448000"/>
            <a:ext cx="89280" cy="892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7"/>
          <p:cNvSpPr/>
          <p:nvPr/>
        </p:nvSpPr>
        <p:spPr>
          <a:xfrm flipH="1">
            <a:off x="976320" y="2210760"/>
            <a:ext cx="166680" cy="281880"/>
          </a:xfrm>
          <a:prstGeom prst="line">
            <a:avLst/>
          </a:prstGeom>
          <a:ln w="15875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8"/>
          <p:cNvSpPr/>
          <p:nvPr/>
        </p:nvSpPr>
        <p:spPr>
          <a:xfrm>
            <a:off x="1143000" y="2210760"/>
            <a:ext cx="166320" cy="281880"/>
          </a:xfrm>
          <a:prstGeom prst="line">
            <a:avLst/>
          </a:prstGeom>
          <a:ln w="15875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9"/>
          <p:cNvSpPr/>
          <p:nvPr/>
        </p:nvSpPr>
        <p:spPr>
          <a:xfrm>
            <a:off x="976320" y="2492640"/>
            <a:ext cx="333000" cy="360"/>
          </a:xfrm>
          <a:prstGeom prst="line">
            <a:avLst/>
          </a:prstGeom>
          <a:ln w="15875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0"/>
          <p:cNvSpPr/>
          <p:nvPr/>
        </p:nvSpPr>
        <p:spPr>
          <a:xfrm>
            <a:off x="822960" y="2880360"/>
            <a:ext cx="295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Radiofrecuencia y códigos de barras</a:t>
            </a:r>
            <a:endParaRPr b="0" lang="es-CL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1"/>
          <p:cNvSpPr/>
          <p:nvPr/>
        </p:nvSpPr>
        <p:spPr>
          <a:xfrm>
            <a:off x="822960" y="3657600"/>
            <a:ext cx="29530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d6def4"/>
                </a:solidFill>
                <a:effectLst/>
                <a:uFillTx/>
                <a:latin typeface="Calibri"/>
                <a:ea typeface="Calibri"/>
              </a:rPr>
              <a:t>Eliminan el papel y reducen los errores de transcripción. Cada movimiento se registra y valida al instante.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2"/>
          <p:cNvSpPr/>
          <p:nvPr/>
        </p:nvSpPr>
        <p:spPr>
          <a:xfrm>
            <a:off x="4325040" y="1783080"/>
            <a:ext cx="3501720" cy="324576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3"/>
          <p:cNvSpPr/>
          <p:nvPr/>
        </p:nvSpPr>
        <p:spPr>
          <a:xfrm>
            <a:off x="4599360" y="2057400"/>
            <a:ext cx="639720" cy="63972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4"/>
          <p:cNvSpPr/>
          <p:nvPr/>
        </p:nvSpPr>
        <p:spPr>
          <a:xfrm>
            <a:off x="4758120" y="2283480"/>
            <a:ext cx="147600" cy="93600"/>
          </a:xfrm>
          <a:prstGeom prst="chevron">
            <a:avLst>
              <a:gd name="adj" fmla="val 5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5"/>
          <p:cNvSpPr/>
          <p:nvPr/>
        </p:nvSpPr>
        <p:spPr>
          <a:xfrm>
            <a:off x="4906080" y="2291400"/>
            <a:ext cx="80280" cy="80280"/>
          </a:xfrm>
          <a:prstGeom prst="ellipse">
            <a:avLst/>
          </a:prstGeom>
          <a:noFill/>
          <a:ln w="22225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6"/>
          <p:cNvSpPr/>
          <p:nvPr/>
        </p:nvSpPr>
        <p:spPr>
          <a:xfrm>
            <a:off x="4599360" y="2880360"/>
            <a:ext cx="295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Trazabilidad completa</a:t>
            </a:r>
            <a:endParaRPr b="0" lang="es-CL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7"/>
          <p:cNvSpPr/>
          <p:nvPr/>
        </p:nvSpPr>
        <p:spPr>
          <a:xfrm>
            <a:off x="4599360" y="3657600"/>
            <a:ext cx="29530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d6def4"/>
                </a:solidFill>
                <a:effectLst/>
                <a:uFillTx/>
                <a:latin typeface="Calibri"/>
                <a:ea typeface="Calibri"/>
              </a:rPr>
              <a:t>Registra quién recibió, almacenó y preparó cada producto, permitiendo reconstruir su historial completo.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8"/>
          <p:cNvSpPr/>
          <p:nvPr/>
        </p:nvSpPr>
        <p:spPr>
          <a:xfrm>
            <a:off x="8101440" y="1783080"/>
            <a:ext cx="3501720" cy="324576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9"/>
          <p:cNvSpPr/>
          <p:nvPr/>
        </p:nvSpPr>
        <p:spPr>
          <a:xfrm>
            <a:off x="8375760" y="2057400"/>
            <a:ext cx="639720" cy="639720"/>
          </a:xfrm>
          <a:prstGeom prst="ellipse">
            <a:avLst/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0"/>
          <p:cNvSpPr/>
          <p:nvPr/>
        </p:nvSpPr>
        <p:spPr>
          <a:xfrm>
            <a:off x="8561520" y="2243160"/>
            <a:ext cx="268560" cy="268560"/>
          </a:xfrm>
          <a:prstGeom prst="ellipse">
            <a:avLst/>
          </a:prstGeom>
          <a:noFill/>
          <a:ln w="22225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1"/>
          <p:cNvSpPr/>
          <p:nvPr/>
        </p:nvSpPr>
        <p:spPr>
          <a:xfrm>
            <a:off x="8375760" y="2880360"/>
            <a:ext cx="2953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Inventarios cíclicos</a:t>
            </a:r>
            <a:endParaRPr b="0" lang="es-CL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2"/>
          <p:cNvSpPr/>
          <p:nvPr/>
        </p:nvSpPr>
        <p:spPr>
          <a:xfrm>
            <a:off x="8375760" y="3657600"/>
            <a:ext cx="29530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d6def4"/>
                </a:solidFill>
                <a:effectLst/>
                <a:uFillTx/>
                <a:latin typeface="Calibri"/>
                <a:ea typeface="Calibri"/>
              </a:rPr>
              <a:t>Reemplazan el inventario físico anual por conteos rotativos que no interrumpen la operación.</a:t>
            </a:r>
            <a:endParaRPr b="0" lang="es-CL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3"/>
          <p:cNvSpPr/>
          <p:nvPr/>
        </p:nvSpPr>
        <p:spPr>
          <a:xfrm>
            <a:off x="548640" y="5257800"/>
            <a:ext cx="1106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Los WMS actuales operan en la WEB, administran múltiples almacenes y permiten gestión y control a distancia — alimentando de datos a los sistemas centrales (ERP).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4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5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4 · DISTRIBUCIÓN EXTERNA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TMS: Transportation Management System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"/>
          <p:cNvSpPr/>
          <p:nvPr/>
        </p:nvSpPr>
        <p:spPr>
          <a:xfrm>
            <a:off x="548640" y="169164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El transporte puede representar hasta el 50% de los costos logísticos totales — el TMS identifica y controla esos costos a lo largo de toda la operación.</a:t>
            </a:r>
            <a:endParaRPr b="0" lang="es-CL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3"/>
          <p:cNvSpPr/>
          <p:nvPr/>
        </p:nvSpPr>
        <p:spPr>
          <a:xfrm>
            <a:off x="548640" y="2606040"/>
            <a:ext cx="5303160" cy="5482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4"/>
          <p:cNvSpPr/>
          <p:nvPr/>
        </p:nvSpPr>
        <p:spPr>
          <a:xfrm>
            <a:off x="685800" y="2697480"/>
            <a:ext cx="365400" cy="36540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5"/>
          <p:cNvSpPr/>
          <p:nvPr/>
        </p:nvSpPr>
        <p:spPr>
          <a:xfrm>
            <a:off x="792000" y="2826720"/>
            <a:ext cx="84240" cy="61200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6"/>
          <p:cNvSpPr/>
          <p:nvPr/>
        </p:nvSpPr>
        <p:spPr>
          <a:xfrm rot="5400000">
            <a:off x="869040" y="2834280"/>
            <a:ext cx="48960" cy="4896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0160" bIns="-201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7"/>
          <p:cNvSpPr/>
          <p:nvPr/>
        </p:nvSpPr>
        <p:spPr>
          <a:xfrm>
            <a:off x="1188720" y="2606040"/>
            <a:ext cx="4525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Planificación de fletes y consolidación de carga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8"/>
          <p:cNvSpPr/>
          <p:nvPr/>
        </p:nvSpPr>
        <p:spPr>
          <a:xfrm>
            <a:off x="548640" y="3291840"/>
            <a:ext cx="5303160" cy="5482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9"/>
          <p:cNvSpPr/>
          <p:nvPr/>
        </p:nvSpPr>
        <p:spPr>
          <a:xfrm>
            <a:off x="685800" y="3383280"/>
            <a:ext cx="365400" cy="36540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0"/>
          <p:cNvSpPr/>
          <p:nvPr/>
        </p:nvSpPr>
        <p:spPr>
          <a:xfrm>
            <a:off x="792000" y="3512520"/>
            <a:ext cx="84240" cy="61200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1"/>
          <p:cNvSpPr/>
          <p:nvPr/>
        </p:nvSpPr>
        <p:spPr>
          <a:xfrm rot="5400000">
            <a:off x="869040" y="3520080"/>
            <a:ext cx="48960" cy="4896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0160" bIns="-201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2"/>
          <p:cNvSpPr/>
          <p:nvPr/>
        </p:nvSpPr>
        <p:spPr>
          <a:xfrm>
            <a:off x="1188720" y="3291840"/>
            <a:ext cx="4525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Gestión de flota propia y de terceros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13"/>
          <p:cNvSpPr/>
          <p:nvPr/>
        </p:nvSpPr>
        <p:spPr>
          <a:xfrm>
            <a:off x="548640" y="3977640"/>
            <a:ext cx="5303160" cy="5482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4"/>
          <p:cNvSpPr/>
          <p:nvPr/>
        </p:nvSpPr>
        <p:spPr>
          <a:xfrm>
            <a:off x="685800" y="4069080"/>
            <a:ext cx="365400" cy="36540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5"/>
          <p:cNvSpPr/>
          <p:nvPr/>
        </p:nvSpPr>
        <p:spPr>
          <a:xfrm>
            <a:off x="792000" y="4198320"/>
            <a:ext cx="84240" cy="61200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6"/>
          <p:cNvSpPr/>
          <p:nvPr/>
        </p:nvSpPr>
        <p:spPr>
          <a:xfrm rot="5400000">
            <a:off x="869040" y="4205880"/>
            <a:ext cx="48960" cy="4896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0160" bIns="-201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7"/>
          <p:cNvSpPr/>
          <p:nvPr/>
        </p:nvSpPr>
        <p:spPr>
          <a:xfrm>
            <a:off x="1188720" y="3977640"/>
            <a:ext cx="4525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Control de viajes, tarifas y documentación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8"/>
          <p:cNvSpPr/>
          <p:nvPr/>
        </p:nvSpPr>
        <p:spPr>
          <a:xfrm>
            <a:off x="6309360" y="2606040"/>
            <a:ext cx="5303160" cy="5482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9"/>
          <p:cNvSpPr/>
          <p:nvPr/>
        </p:nvSpPr>
        <p:spPr>
          <a:xfrm>
            <a:off x="6446520" y="2697480"/>
            <a:ext cx="365400" cy="36540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20"/>
          <p:cNvSpPr/>
          <p:nvPr/>
        </p:nvSpPr>
        <p:spPr>
          <a:xfrm>
            <a:off x="6552720" y="2826720"/>
            <a:ext cx="84240" cy="61200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21"/>
          <p:cNvSpPr/>
          <p:nvPr/>
        </p:nvSpPr>
        <p:spPr>
          <a:xfrm rot="5400000">
            <a:off x="6629760" y="2834280"/>
            <a:ext cx="48960" cy="4896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0160" bIns="-201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2"/>
          <p:cNvSpPr/>
          <p:nvPr/>
        </p:nvSpPr>
        <p:spPr>
          <a:xfrm>
            <a:off x="6949440" y="2606040"/>
            <a:ext cx="4525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Track and trace: seguimiento en tiempo real vía GPS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23"/>
          <p:cNvSpPr/>
          <p:nvPr/>
        </p:nvSpPr>
        <p:spPr>
          <a:xfrm>
            <a:off x="6309360" y="3291840"/>
            <a:ext cx="5303160" cy="54828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24"/>
          <p:cNvSpPr/>
          <p:nvPr/>
        </p:nvSpPr>
        <p:spPr>
          <a:xfrm>
            <a:off x="6446520" y="3383280"/>
            <a:ext cx="365400" cy="36540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25"/>
          <p:cNvSpPr/>
          <p:nvPr/>
        </p:nvSpPr>
        <p:spPr>
          <a:xfrm>
            <a:off x="6552720" y="3512520"/>
            <a:ext cx="84240" cy="61200"/>
          </a:xfrm>
          <a:prstGeom prst="roundRect">
            <a:avLst>
              <a:gd name="adj" fmla="val 2976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120" bIns="612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6"/>
          <p:cNvSpPr/>
          <p:nvPr/>
        </p:nvSpPr>
        <p:spPr>
          <a:xfrm rot="5400000">
            <a:off x="6629760" y="3520080"/>
            <a:ext cx="48960" cy="4896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0160" bIns="-2016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7"/>
          <p:cNvSpPr/>
          <p:nvPr/>
        </p:nvSpPr>
        <p:spPr>
          <a:xfrm>
            <a:off x="6949440" y="3291840"/>
            <a:ext cx="4525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Estadísticas y KPI de desempeño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8"/>
          <p:cNvSpPr/>
          <p:nvPr/>
        </p:nvSpPr>
        <p:spPr>
          <a:xfrm>
            <a:off x="548640" y="562356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Objetivo central: identificar y controlar los costos de la operación de transporte de punta a punta.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9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30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4 · OPTIMIZACIÓN MATEMÁTICA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RS: Routing System y sus beneficios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2"/>
          <p:cNvSpPr/>
          <p:nvPr/>
        </p:nvSpPr>
        <p:spPr>
          <a:xfrm>
            <a:off x="548640" y="169164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Herramienta especializada —a menudo integrada al TMS— usada en redes complejas con muchos puntos de entrega. Aplica modelos matemáticos que consideran tiempos de viaje, tipo de camión y restricciones de zona.</a:t>
            </a:r>
            <a:endParaRPr b="0" lang="es-CL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3"/>
          <p:cNvSpPr/>
          <p:nvPr/>
        </p:nvSpPr>
        <p:spPr>
          <a:xfrm>
            <a:off x="548640" y="2743200"/>
            <a:ext cx="3501720" cy="173700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4"/>
          <p:cNvSpPr/>
          <p:nvPr/>
        </p:nvSpPr>
        <p:spPr>
          <a:xfrm>
            <a:off x="777240" y="2907720"/>
            <a:ext cx="304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c9a24b"/>
                </a:solidFill>
                <a:effectLst/>
                <a:uFillTx/>
                <a:latin typeface="Cambria"/>
                <a:ea typeface="Cambria"/>
              </a:rPr>
              <a:t>10–20%</a:t>
            </a:r>
            <a:endParaRPr b="0" lang="es-CL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5"/>
          <p:cNvSpPr/>
          <p:nvPr/>
        </p:nvSpPr>
        <p:spPr>
          <a:xfrm>
            <a:off x="777240" y="3749040"/>
            <a:ext cx="304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ce3f7"/>
                </a:solidFill>
                <a:effectLst/>
                <a:uFillTx/>
                <a:latin typeface="Calibri"/>
                <a:ea typeface="Calibri"/>
              </a:rPr>
              <a:t>de reducción en los costos totales de transporte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6"/>
          <p:cNvSpPr/>
          <p:nvPr/>
        </p:nvSpPr>
        <p:spPr>
          <a:xfrm>
            <a:off x="4325040" y="2743200"/>
            <a:ext cx="3501720" cy="173700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7"/>
          <p:cNvSpPr/>
          <p:nvPr/>
        </p:nvSpPr>
        <p:spPr>
          <a:xfrm>
            <a:off x="4553640" y="2907720"/>
            <a:ext cx="304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c9a24b"/>
                </a:solidFill>
                <a:effectLst/>
                <a:uFillTx/>
                <a:latin typeface="Cambria"/>
                <a:ea typeface="Cambria"/>
              </a:rPr>
              <a:t>+50%</a:t>
            </a:r>
            <a:endParaRPr b="0" lang="es-CL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8"/>
          <p:cNvSpPr/>
          <p:nvPr/>
        </p:nvSpPr>
        <p:spPr>
          <a:xfrm>
            <a:off x="4553640" y="3749040"/>
            <a:ext cx="304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ce3f7"/>
                </a:solidFill>
                <a:effectLst/>
                <a:uFillTx/>
                <a:latin typeface="Calibri"/>
                <a:ea typeface="Calibri"/>
              </a:rPr>
              <a:t>menos tiempo dedicado a la planificación diaria de rutas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9"/>
          <p:cNvSpPr/>
          <p:nvPr/>
        </p:nvSpPr>
        <p:spPr>
          <a:xfrm>
            <a:off x="8101440" y="2743200"/>
            <a:ext cx="3501720" cy="173700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0"/>
          <p:cNvSpPr/>
          <p:nvPr/>
        </p:nvSpPr>
        <p:spPr>
          <a:xfrm>
            <a:off x="8330040" y="2907720"/>
            <a:ext cx="304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c9a24b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s-CL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1"/>
          <p:cNvSpPr/>
          <p:nvPr/>
        </p:nvSpPr>
        <p:spPr>
          <a:xfrm>
            <a:off x="8330040" y="3749040"/>
            <a:ext cx="304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dce3f7"/>
                </a:solidFill>
                <a:effectLst/>
                <a:uFillTx/>
                <a:latin typeface="Calibri"/>
                <a:ea typeface="Calibri"/>
              </a:rPr>
              <a:t>aplicaciones: estratégica, comercial y operativa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2"/>
          <p:cNvSpPr/>
          <p:nvPr/>
        </p:nvSpPr>
        <p:spPr>
          <a:xfrm>
            <a:off x="548640" y="480060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Aplicación estratégica: red de distribución y flota  ·  Comercial: propuestas y consultoría  ·  Operativa: planificación diaria de rutas</a:t>
            </a:r>
            <a:endParaRPr b="0" lang="es-CL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3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4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 0"/>
          <p:cNvSpPr/>
          <p:nvPr/>
        </p:nvSpPr>
        <p:spPr>
          <a:xfrm>
            <a:off x="548640" y="3841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BLOQUE 5 · EVALUACIÓN DEL RA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"/>
          <p:cNvSpPr/>
          <p:nvPr/>
        </p:nvSpPr>
        <p:spPr>
          <a:xfrm>
            <a:off x="548640" y="65844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La interrelación total del ecosistema</a:t>
            </a:r>
            <a:endParaRPr b="0" lang="es-CL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2"/>
          <p:cNvSpPr/>
          <p:nvPr/>
        </p:nvSpPr>
        <p:spPr>
          <a:xfrm>
            <a:off x="548640" y="1965960"/>
            <a:ext cx="2514240" cy="237708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"/>
          <p:cNvSpPr/>
          <p:nvPr/>
        </p:nvSpPr>
        <p:spPr>
          <a:xfrm>
            <a:off x="731520" y="210312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c9a24b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s-C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4"/>
          <p:cNvSpPr/>
          <p:nvPr/>
        </p:nvSpPr>
        <p:spPr>
          <a:xfrm>
            <a:off x="731520" y="2743200"/>
            <a:ext cx="2148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CRM</a:t>
            </a: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5"/>
          <p:cNvSpPr/>
          <p:nvPr/>
        </p:nvSpPr>
        <p:spPr>
          <a:xfrm>
            <a:off x="731520" y="3291840"/>
            <a:ext cx="2148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4e9f7"/>
                </a:solidFill>
                <a:effectLst/>
                <a:uFillTx/>
                <a:latin typeface="Calibri"/>
                <a:ea typeface="Calibri"/>
              </a:rPr>
              <a:t>El cliente compra y queda registrado.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6"/>
          <p:cNvSpPr/>
          <p:nvPr/>
        </p:nvSpPr>
        <p:spPr>
          <a:xfrm>
            <a:off x="3117960" y="3008520"/>
            <a:ext cx="310680" cy="292320"/>
          </a:xfrm>
          <a:prstGeom prst="chevron">
            <a:avLst>
              <a:gd name="adj" fmla="val 50000"/>
            </a:avLst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7"/>
          <p:cNvSpPr/>
          <p:nvPr/>
        </p:nvSpPr>
        <p:spPr>
          <a:xfrm>
            <a:off x="3474720" y="1965960"/>
            <a:ext cx="2514240" cy="2377080"/>
          </a:xfrm>
          <a:prstGeom prst="roundRect">
            <a:avLst>
              <a:gd name="adj" fmla="val 3077"/>
            </a:avLst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8"/>
          <p:cNvSpPr/>
          <p:nvPr/>
        </p:nvSpPr>
        <p:spPr>
          <a:xfrm>
            <a:off x="3657600" y="210312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c9a24b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s-C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9"/>
          <p:cNvSpPr/>
          <p:nvPr/>
        </p:nvSpPr>
        <p:spPr>
          <a:xfrm>
            <a:off x="3657600" y="2743200"/>
            <a:ext cx="2148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ERP</a:t>
            </a: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0"/>
          <p:cNvSpPr/>
          <p:nvPr/>
        </p:nvSpPr>
        <p:spPr>
          <a:xfrm>
            <a:off x="3657600" y="3291840"/>
            <a:ext cx="2148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4e9f7"/>
                </a:solidFill>
                <a:effectLst/>
                <a:uFillTx/>
                <a:latin typeface="Calibri"/>
                <a:ea typeface="Calibri"/>
              </a:rPr>
              <a:t>Valida el crédito y crea la orden de pedido.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1"/>
          <p:cNvSpPr/>
          <p:nvPr/>
        </p:nvSpPr>
        <p:spPr>
          <a:xfrm>
            <a:off x="6044040" y="3008520"/>
            <a:ext cx="310680" cy="292320"/>
          </a:xfrm>
          <a:prstGeom prst="chevron">
            <a:avLst>
              <a:gd name="adj" fmla="val 50000"/>
            </a:avLst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2"/>
          <p:cNvSpPr/>
          <p:nvPr/>
        </p:nvSpPr>
        <p:spPr>
          <a:xfrm>
            <a:off x="6400800" y="1965960"/>
            <a:ext cx="2514240" cy="237708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3"/>
          <p:cNvSpPr/>
          <p:nvPr/>
        </p:nvSpPr>
        <p:spPr>
          <a:xfrm>
            <a:off x="6583680" y="210312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c9a24b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s-C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4"/>
          <p:cNvSpPr/>
          <p:nvPr/>
        </p:nvSpPr>
        <p:spPr>
          <a:xfrm>
            <a:off x="6583680" y="2743200"/>
            <a:ext cx="2148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WMS</a:t>
            </a: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5"/>
          <p:cNvSpPr/>
          <p:nvPr/>
        </p:nvSpPr>
        <p:spPr>
          <a:xfrm>
            <a:off x="6583680" y="3291840"/>
            <a:ext cx="2148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4e9f7"/>
                </a:solidFill>
                <a:effectLst/>
                <a:uFillTx/>
                <a:latin typeface="Calibri"/>
                <a:ea typeface="Calibri"/>
              </a:rPr>
              <a:t>Ejecuta el picking en las posiciones del CD.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6"/>
          <p:cNvSpPr/>
          <p:nvPr/>
        </p:nvSpPr>
        <p:spPr>
          <a:xfrm>
            <a:off x="8970120" y="3008520"/>
            <a:ext cx="310680" cy="292320"/>
          </a:xfrm>
          <a:prstGeom prst="chevron">
            <a:avLst>
              <a:gd name="adj" fmla="val 50000"/>
            </a:avLst>
          </a:prstGeom>
          <a:solidFill>
            <a:srgbClr val="c9a2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7"/>
          <p:cNvSpPr/>
          <p:nvPr/>
        </p:nvSpPr>
        <p:spPr>
          <a:xfrm>
            <a:off x="9326880" y="1965960"/>
            <a:ext cx="2514240" cy="2377080"/>
          </a:xfrm>
          <a:prstGeom prst="roundRect">
            <a:avLst>
              <a:gd name="adj" fmla="val 3077"/>
            </a:avLst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8"/>
          <p:cNvSpPr/>
          <p:nvPr/>
        </p:nvSpPr>
        <p:spPr>
          <a:xfrm>
            <a:off x="9509760" y="2103120"/>
            <a:ext cx="73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c9a24b"/>
                </a:solidFill>
                <a:effectLst/>
                <a:uFillTx/>
                <a:latin typeface="Cambria"/>
                <a:ea typeface="Cambria"/>
              </a:rPr>
              <a:t>4</a:t>
            </a:r>
            <a:endParaRPr b="0" lang="es-CL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9"/>
          <p:cNvSpPr/>
          <p:nvPr/>
        </p:nvSpPr>
        <p:spPr>
          <a:xfrm>
            <a:off x="9509760" y="2743200"/>
            <a:ext cx="2148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TMS / RS</a:t>
            </a:r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0"/>
          <p:cNvSpPr/>
          <p:nvPr/>
        </p:nvSpPr>
        <p:spPr>
          <a:xfrm>
            <a:off x="9509760" y="3291840"/>
            <a:ext cx="2148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4e9f7"/>
                </a:solidFill>
                <a:effectLst/>
                <a:uFillTx/>
                <a:latin typeface="Calibri"/>
                <a:ea typeface="Calibri"/>
              </a:rPr>
              <a:t>Planifica la ruta y despacha al cliente.</a:t>
            </a:r>
            <a:endParaRPr b="0" lang="es-CL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1"/>
          <p:cNvSpPr/>
          <p:nvPr/>
        </p:nvSpPr>
        <p:spPr>
          <a:xfrm>
            <a:off x="548640" y="470916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La verdadera ventaja competitiva no está en un sistema aislado, sino en su integración efectiva: conectar la demanda del cliente con la planificación de recursos, el almacén y el transporte.</a:t>
            </a:r>
            <a:endParaRPr b="0" lang="es-CL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2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3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b="0" lang="es-CL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0"/>
          <p:cNvSpPr/>
          <p:nvPr/>
        </p:nvSpPr>
        <p:spPr>
          <a:xfrm>
            <a:off x="-1097280" y="4206240"/>
            <a:ext cx="4114440" cy="4114440"/>
          </a:xfrm>
          <a:prstGeom prst="ellipse">
            <a:avLst/>
          </a:prstGeom>
          <a:noFill/>
          <a:ln w="15875">
            <a:solidFill>
              <a:srgbClr val="3e5c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"/>
          <p:cNvSpPr/>
          <p:nvPr/>
        </p:nvSpPr>
        <p:spPr>
          <a:xfrm>
            <a:off x="685800" y="685800"/>
            <a:ext cx="822600" cy="82260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"/>
          <p:cNvSpPr/>
          <p:nvPr/>
        </p:nvSpPr>
        <p:spPr>
          <a:xfrm>
            <a:off x="924480" y="924480"/>
            <a:ext cx="345240" cy="345240"/>
          </a:xfrm>
          <a:prstGeom prst="ellipse">
            <a:avLst/>
          </a:prstGeom>
          <a:noFill/>
          <a:ln w="222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3"/>
          <p:cNvSpPr/>
          <p:nvPr/>
        </p:nvSpPr>
        <p:spPr>
          <a:xfrm>
            <a:off x="1691640" y="7315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PARA REFLEXIONAR</a:t>
            </a:r>
            <a:endParaRPr b="0" lang="es-CL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4"/>
          <p:cNvSpPr/>
          <p:nvPr/>
        </p:nvSpPr>
        <p:spPr>
          <a:xfrm>
            <a:off x="749520" y="2139480"/>
            <a:ext cx="320040" cy="360"/>
          </a:xfrm>
          <a:prstGeom prst="line">
            <a:avLst/>
          </a:prstGeom>
          <a:ln w="25400">
            <a:solidFill>
              <a:srgbClr val="c9a2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"/>
          <p:cNvSpPr/>
          <p:nvPr/>
        </p:nvSpPr>
        <p:spPr>
          <a:xfrm>
            <a:off x="1234440" y="1920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Si tuvieran que elegir un solo sistema, ¿con cuál se quedarían?</a:t>
            </a:r>
            <a:endParaRPr b="0" lang="es-CL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6"/>
          <p:cNvSpPr/>
          <p:nvPr/>
        </p:nvSpPr>
        <p:spPr>
          <a:xfrm>
            <a:off x="749520" y="2916720"/>
            <a:ext cx="320040" cy="360"/>
          </a:xfrm>
          <a:prstGeom prst="line">
            <a:avLst/>
          </a:prstGeom>
          <a:ln w="25400">
            <a:solidFill>
              <a:srgbClr val="c9a2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7"/>
          <p:cNvSpPr/>
          <p:nvPr/>
        </p:nvSpPr>
        <p:spPr>
          <a:xfrm>
            <a:off x="1234440" y="26974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¿Es lo mismo un ERP que un WMS?</a:t>
            </a:r>
            <a:endParaRPr b="0" lang="es-CL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8"/>
          <p:cNvSpPr/>
          <p:nvPr/>
        </p:nvSpPr>
        <p:spPr>
          <a:xfrm>
            <a:off x="749520" y="3693960"/>
            <a:ext cx="320040" cy="360"/>
          </a:xfrm>
          <a:prstGeom prst="line">
            <a:avLst/>
          </a:prstGeom>
          <a:ln w="25400">
            <a:solidFill>
              <a:srgbClr val="c9a2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9"/>
          <p:cNvSpPr/>
          <p:nvPr/>
        </p:nvSpPr>
        <p:spPr>
          <a:xfrm>
            <a:off x="1234440" y="34747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¿Son compatibles entre sí?</a:t>
            </a:r>
            <a:endParaRPr b="0" lang="es-CL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0"/>
          <p:cNvSpPr/>
          <p:nvPr/>
        </p:nvSpPr>
        <p:spPr>
          <a:xfrm>
            <a:off x="685800" y="4709160"/>
            <a:ext cx="10789920" cy="360"/>
          </a:xfrm>
          <a:prstGeom prst="line">
            <a:avLst/>
          </a:prstGeom>
          <a:ln w="12700">
            <a:solidFill>
              <a:srgbClr val="3a46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1"/>
          <p:cNvSpPr/>
          <p:nvPr/>
        </p:nvSpPr>
        <p:spPr>
          <a:xfrm>
            <a:off x="685800" y="49377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c9a24b"/>
                </a:solidFill>
                <a:effectLst/>
                <a:uFillTx/>
                <a:latin typeface="Calibri"/>
                <a:ea typeface="Calibri"/>
              </a:rPr>
              <a:t>PRÓXIMO PASO</a:t>
            </a:r>
            <a:endParaRPr b="0" lang="es-CL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2"/>
          <p:cNvSpPr/>
          <p:nvPr/>
        </p:nvSpPr>
        <p:spPr>
          <a:xfrm>
            <a:off x="685800" y="521208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Taller sumativo — caso práctico en formato Canvas</a:t>
            </a:r>
            <a:endParaRPr b="0" lang="es-CL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3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8b96c4"/>
                </a:solidFill>
                <a:effectLst/>
                <a:uFillTx/>
                <a:latin typeface="Calibri"/>
                <a:ea typeface="Calibri"/>
              </a:rPr>
              <a:t>Gestión Logística  ·  Clase 4: Tecnologías de la Información en la Logística</a:t>
            </a:r>
            <a:endParaRPr b="0" lang="es-CL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4"/>
          <p:cNvSpPr/>
          <p:nvPr/>
        </p:nvSpPr>
        <p:spPr>
          <a:xfrm>
            <a:off x="1152144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8b96c4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b="0" lang="es-CL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 0"/>
          <p:cNvSpPr/>
          <p:nvPr/>
        </p:nvSpPr>
        <p:spPr>
          <a:xfrm>
            <a:off x="548640" y="5029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3e5c9a"/>
                </a:solidFill>
                <a:effectLst/>
                <a:uFillTx/>
                <a:latin typeface="Calibri"/>
                <a:ea typeface="Calibri"/>
              </a:rPr>
              <a:t>REFERENCIAS</a:t>
            </a:r>
            <a:endParaRPr b="0" lang="es-CL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"/>
          <p:cNvSpPr/>
          <p:nvPr/>
        </p:nvSpPr>
        <p:spPr>
          <a:xfrm>
            <a:off x="548640" y="8046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Bibliografía</a:t>
            </a:r>
            <a:endParaRPr b="0" lang="es-CL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"/>
          <p:cNvSpPr/>
          <p:nvPr/>
        </p:nvSpPr>
        <p:spPr>
          <a:xfrm>
            <a:off x="567000" y="1764720"/>
            <a:ext cx="109440" cy="10944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3"/>
          <p:cNvSpPr/>
          <p:nvPr/>
        </p:nvSpPr>
        <p:spPr>
          <a:xfrm>
            <a:off x="868680" y="164592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Acosta, G. (s.f.). Sistemas de información aplicados a logística. Scribd. https://es.scribd.com/doc/138948973/Sistemas-de-Informacion-Logisticos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"/>
          <p:cNvSpPr/>
          <p:nvPr/>
        </p:nvSpPr>
        <p:spPr>
          <a:xfrm>
            <a:off x="567000" y="2541960"/>
            <a:ext cx="109440" cy="10944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5"/>
          <p:cNvSpPr/>
          <p:nvPr/>
        </p:nvSpPr>
        <p:spPr>
          <a:xfrm>
            <a:off x="868680" y="242316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Elegir CRM. (s.f.). ¿Qué es un CRM? Entiende qué es un CRM y qué ofrece a las diferentes áreas de una empresa. https://www.elegircrm.com/crm/que-es-un-crm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6"/>
          <p:cNvSpPr/>
          <p:nvPr/>
        </p:nvSpPr>
        <p:spPr>
          <a:xfrm>
            <a:off x="567000" y="3319200"/>
            <a:ext cx="109440" cy="10944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7"/>
          <p:cNvSpPr/>
          <p:nvPr/>
        </p:nvSpPr>
        <p:spPr>
          <a:xfrm>
            <a:off x="868680" y="320040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Grupo Consisa. (2017). ¿Para qué me sirve un ERP en mi empresa? http://www.consisa.com/index.php/es/para-que-sirve-un-erp-en-mi-empresa/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8"/>
          <p:cNvSpPr/>
          <p:nvPr/>
        </p:nvSpPr>
        <p:spPr>
          <a:xfrm>
            <a:off x="567000" y="4096440"/>
            <a:ext cx="109440" cy="109440"/>
          </a:xfrm>
          <a:prstGeom prst="ellipse">
            <a:avLst/>
          </a:prstGeom>
          <a:solidFill>
            <a:srgbClr val="3e5c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s-CL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9"/>
          <p:cNvSpPr/>
          <p:nvPr/>
        </p:nvSpPr>
        <p:spPr>
          <a:xfrm>
            <a:off x="868680" y="397764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b2b33"/>
                </a:solidFill>
                <a:effectLst/>
                <a:uFillTx/>
                <a:latin typeface="Calibri"/>
                <a:ea typeface="Calibri"/>
              </a:rPr>
              <a:t>Oracle. (s.f.). ¿Qué es un sistema de administración de almacenes (WMS)? https://www.oracle.com/cl/applications/supply-chain-management/solutions/logistics/warehouse-management/what-is-warehouse-management.html</a:t>
            </a:r>
            <a:endParaRPr b="0" lang="es-CL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0"/>
          <p:cNvSpPr/>
          <p:nvPr/>
        </p:nvSpPr>
        <p:spPr>
          <a:xfrm>
            <a:off x="548640" y="5989320"/>
            <a:ext cx="11064240" cy="360"/>
          </a:xfrm>
          <a:prstGeom prst="line">
            <a:avLst/>
          </a:prstGeom>
          <a:ln w="12700">
            <a:solidFill>
              <a:srgbClr val="e3e7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C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1"/>
          <p:cNvSpPr/>
          <p:nvPr/>
        </p:nvSpPr>
        <p:spPr>
          <a:xfrm>
            <a:off x="548640" y="6126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Gestión Logística · Clase 4: Tecnologías de la Información en la Logística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2"/>
          <p:cNvSpPr/>
          <p:nvPr/>
        </p:nvSpPr>
        <p:spPr>
          <a:xfrm>
            <a:off x="7772400" y="61264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Universidad San Sebastián</a:t>
            </a:r>
            <a:endParaRPr b="0" lang="es-CL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2026-07-11T00:20:43Z</dcterms:created>
  <dc:creator>PptxGenJS</dc:creator>
  <dc:description/>
  <dc:language>es-CL</dc:language>
  <cp:lastModifiedBy/>
  <cp:lastPrinted>2026-07-11T07:18:21Z</cp:lastPrinted>
  <dcterms:modified xsi:type="dcterms:W3CDTF">2026-07-11T08:44:21Z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